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Lst>
  <p:notesMasterIdLst>
    <p:notesMasterId r:id="rId15"/>
  </p:notesMasterIdLst>
  <p:sldIdLst>
    <p:sldId id="256" r:id="rId2"/>
    <p:sldId id="418" r:id="rId3"/>
    <p:sldId id="400" r:id="rId4"/>
    <p:sldId id="332" r:id="rId5"/>
    <p:sldId id="426" r:id="rId6"/>
    <p:sldId id="422" r:id="rId7"/>
    <p:sldId id="425" r:id="rId8"/>
    <p:sldId id="415" r:id="rId9"/>
    <p:sldId id="420" r:id="rId10"/>
    <p:sldId id="390" r:id="rId11"/>
    <p:sldId id="421" r:id="rId12"/>
    <p:sldId id="423" r:id="rId13"/>
    <p:sldId id="424" r:id="rId14"/>
  </p:sldIdLst>
  <p:sldSz cx="24384000" cy="1371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96" userDrawn="1">
          <p15:clr>
            <a:srgbClr val="A4A3A4"/>
          </p15:clr>
        </p15:guide>
        <p15:guide id="2" pos="7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4F0D"/>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A3BC04-CAC5-314A-8CA9-B05ED861E0F9}" v="21" dt="2026-02-18T10:13:58.57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60" d="100"/>
          <a:sy n="60" d="100"/>
        </p:scale>
        <p:origin x="800" y="208"/>
      </p:cViewPr>
      <p:guideLst>
        <p:guide orient="horz" pos="4296"/>
        <p:guide pos="76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iraj Deva (U20250229)" userId="1bfc70be-6db3-433d-8910-65b515877310" providerId="ADAL" clId="{F10A5D05-F26F-51A6-B7E6-27AA8C2B3704}"/>
    <pc:docChg chg="undo custSel modSld">
      <pc:chgData name="Dhiraj Deva (U20250229)" userId="1bfc70be-6db3-433d-8910-65b515877310" providerId="ADAL" clId="{F10A5D05-F26F-51A6-B7E6-27AA8C2B3704}" dt="2026-03-07T13:05:57.602" v="2567" actId="20577"/>
      <pc:docMkLst>
        <pc:docMk/>
      </pc:docMkLst>
      <pc:sldChg chg="modSp mod">
        <pc:chgData name="Dhiraj Deva (U20250229)" userId="1bfc70be-6db3-433d-8910-65b515877310" providerId="ADAL" clId="{F10A5D05-F26F-51A6-B7E6-27AA8C2B3704}" dt="2026-02-18T09:33:12.415" v="1971" actId="1076"/>
        <pc:sldMkLst>
          <pc:docMk/>
          <pc:sldMk cId="0" sldId="256"/>
        </pc:sldMkLst>
        <pc:picChg chg="mod">
          <ac:chgData name="Dhiraj Deva (U20250229)" userId="1bfc70be-6db3-433d-8910-65b515877310" providerId="ADAL" clId="{F10A5D05-F26F-51A6-B7E6-27AA8C2B3704}" dt="2026-02-18T09:33:12.415" v="1971" actId="1076"/>
          <ac:picMkLst>
            <pc:docMk/>
            <pc:sldMk cId="0" sldId="256"/>
            <ac:picMk id="20" creationId="{00000000-0000-0000-0000-000000000000}"/>
          </ac:picMkLst>
        </pc:picChg>
      </pc:sldChg>
      <pc:sldChg chg="addSp modSp mod">
        <pc:chgData name="Dhiraj Deva (U20250229)" userId="1bfc70be-6db3-433d-8910-65b515877310" providerId="ADAL" clId="{F10A5D05-F26F-51A6-B7E6-27AA8C2B3704}" dt="2026-02-18T10:14:38.900" v="2556" actId="207"/>
        <pc:sldMkLst>
          <pc:docMk/>
          <pc:sldMk cId="862463341" sldId="420"/>
        </pc:sldMkLst>
        <pc:spChg chg="add mod">
          <ac:chgData name="Dhiraj Deva (U20250229)" userId="1bfc70be-6db3-433d-8910-65b515877310" providerId="ADAL" clId="{F10A5D05-F26F-51A6-B7E6-27AA8C2B3704}" dt="2026-02-18T10:14:38.900" v="2556" actId="207"/>
          <ac:spMkLst>
            <pc:docMk/>
            <pc:sldMk cId="862463341" sldId="420"/>
            <ac:spMk id="2" creationId="{E6FAC343-67FD-1EE6-BC78-9EA71162BE45}"/>
          </ac:spMkLst>
        </pc:spChg>
        <pc:spChg chg="mod">
          <ac:chgData name="Dhiraj Deva (U20250229)" userId="1bfc70be-6db3-433d-8910-65b515877310" providerId="ADAL" clId="{F10A5D05-F26F-51A6-B7E6-27AA8C2B3704}" dt="2026-02-18T09:30:19.469" v="1846" actId="1076"/>
          <ac:spMkLst>
            <pc:docMk/>
            <pc:sldMk cId="862463341" sldId="420"/>
            <ac:spMk id="31" creationId="{0EECD726-D443-4501-172A-94964038AC6B}"/>
          </ac:spMkLst>
        </pc:spChg>
        <pc:graphicFrameChg chg="mod modGraphic">
          <ac:chgData name="Dhiraj Deva (U20250229)" userId="1bfc70be-6db3-433d-8910-65b515877310" providerId="ADAL" clId="{F10A5D05-F26F-51A6-B7E6-27AA8C2B3704}" dt="2026-02-18T10:13:16.795" v="2423" actId="20577"/>
          <ac:graphicFrameMkLst>
            <pc:docMk/>
            <pc:sldMk cId="862463341" sldId="420"/>
            <ac:graphicFrameMk id="3" creationId="{1B93D1E4-4736-0D81-22F9-E2BBFEC33A13}"/>
          </ac:graphicFrameMkLst>
        </pc:graphicFrameChg>
      </pc:sldChg>
      <pc:sldChg chg="modSp mod">
        <pc:chgData name="Dhiraj Deva (U20250229)" userId="1bfc70be-6db3-433d-8910-65b515877310" providerId="ADAL" clId="{F10A5D05-F26F-51A6-B7E6-27AA8C2B3704}" dt="2026-02-18T09:56:30.507" v="2107" actId="20577"/>
        <pc:sldMkLst>
          <pc:docMk/>
          <pc:sldMk cId="3287370356" sldId="421"/>
        </pc:sldMkLst>
        <pc:graphicFrameChg chg="mod modGraphic">
          <ac:chgData name="Dhiraj Deva (U20250229)" userId="1bfc70be-6db3-433d-8910-65b515877310" providerId="ADAL" clId="{F10A5D05-F26F-51A6-B7E6-27AA8C2B3704}" dt="2026-02-18T09:56:30.507" v="2107" actId="20577"/>
          <ac:graphicFrameMkLst>
            <pc:docMk/>
            <pc:sldMk cId="3287370356" sldId="421"/>
            <ac:graphicFrameMk id="25" creationId="{E852544D-B6DA-B450-B882-B4A5BA3FC0EB}"/>
          </ac:graphicFrameMkLst>
        </pc:graphicFrameChg>
      </pc:sldChg>
      <pc:sldChg chg="modSp mod">
        <pc:chgData name="Dhiraj Deva (U20250229)" userId="1bfc70be-6db3-433d-8910-65b515877310" providerId="ADAL" clId="{F10A5D05-F26F-51A6-B7E6-27AA8C2B3704}" dt="2026-02-18T09:21:36.711" v="1278" actId="113"/>
        <pc:sldMkLst>
          <pc:docMk/>
          <pc:sldMk cId="4016916730" sldId="422"/>
        </pc:sldMkLst>
        <pc:graphicFrameChg chg="modGraphic">
          <ac:chgData name="Dhiraj Deva (U20250229)" userId="1bfc70be-6db3-433d-8910-65b515877310" providerId="ADAL" clId="{F10A5D05-F26F-51A6-B7E6-27AA8C2B3704}" dt="2026-02-18T09:21:36.711" v="1278" actId="113"/>
          <ac:graphicFrameMkLst>
            <pc:docMk/>
            <pc:sldMk cId="4016916730" sldId="422"/>
            <ac:graphicFrameMk id="3" creationId="{02C637CB-11E2-3DB8-7AC9-2033346AB678}"/>
          </ac:graphicFrameMkLst>
        </pc:graphicFrameChg>
      </pc:sldChg>
      <pc:sldChg chg="modSp mod">
        <pc:chgData name="Dhiraj Deva (U20250229)" userId="1bfc70be-6db3-433d-8910-65b515877310" providerId="ADAL" clId="{F10A5D05-F26F-51A6-B7E6-27AA8C2B3704}" dt="2026-02-18T10:06:19.449" v="2239" actId="20577"/>
        <pc:sldMkLst>
          <pc:docMk/>
          <pc:sldMk cId="3577537985" sldId="423"/>
        </pc:sldMkLst>
        <pc:graphicFrameChg chg="mod modGraphic">
          <ac:chgData name="Dhiraj Deva (U20250229)" userId="1bfc70be-6db3-433d-8910-65b515877310" providerId="ADAL" clId="{F10A5D05-F26F-51A6-B7E6-27AA8C2B3704}" dt="2026-02-18T10:06:19.449" v="2239" actId="20577"/>
          <ac:graphicFrameMkLst>
            <pc:docMk/>
            <pc:sldMk cId="3577537985" sldId="423"/>
            <ac:graphicFrameMk id="25" creationId="{9CCABE03-CB81-4C43-B87D-584B9C9865F8}"/>
          </ac:graphicFrameMkLst>
        </pc:graphicFrameChg>
      </pc:sldChg>
      <pc:sldChg chg="modSp mod">
        <pc:chgData name="Dhiraj Deva (U20250229)" userId="1bfc70be-6db3-433d-8910-65b515877310" providerId="ADAL" clId="{F10A5D05-F26F-51A6-B7E6-27AA8C2B3704}" dt="2026-02-18T10:10:49.486" v="2295" actId="20577"/>
        <pc:sldMkLst>
          <pc:docMk/>
          <pc:sldMk cId="323321826" sldId="424"/>
        </pc:sldMkLst>
        <pc:graphicFrameChg chg="mod modGraphic">
          <ac:chgData name="Dhiraj Deva (U20250229)" userId="1bfc70be-6db3-433d-8910-65b515877310" providerId="ADAL" clId="{F10A5D05-F26F-51A6-B7E6-27AA8C2B3704}" dt="2026-02-18T10:10:49.486" v="2295" actId="20577"/>
          <ac:graphicFrameMkLst>
            <pc:docMk/>
            <pc:sldMk cId="323321826" sldId="424"/>
            <ac:graphicFrameMk id="25" creationId="{B17B6B25-73AD-C514-30EF-D0C21FEAD5EE}"/>
          </ac:graphicFrameMkLst>
        </pc:graphicFrameChg>
      </pc:sldChg>
      <pc:sldChg chg="modSp mod">
        <pc:chgData name="Dhiraj Deva (U20250229)" userId="1bfc70be-6db3-433d-8910-65b515877310" providerId="ADAL" clId="{F10A5D05-F26F-51A6-B7E6-27AA8C2B3704}" dt="2026-03-07T13:05:57.602" v="2567" actId="20577"/>
        <pc:sldMkLst>
          <pc:docMk/>
          <pc:sldMk cId="107548085" sldId="425"/>
        </pc:sldMkLst>
        <pc:graphicFrameChg chg="mod modGraphic">
          <ac:chgData name="Dhiraj Deva (U20250229)" userId="1bfc70be-6db3-433d-8910-65b515877310" providerId="ADAL" clId="{F10A5D05-F26F-51A6-B7E6-27AA8C2B3704}" dt="2026-03-07T13:05:57.602" v="2567" actId="20577"/>
          <ac:graphicFrameMkLst>
            <pc:docMk/>
            <pc:sldMk cId="107548085" sldId="425"/>
            <ac:graphicFrameMk id="3" creationId="{9F49F02B-7A05-A636-AF26-83577AE4BFFD}"/>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CA28F-E3A7-EDB8-DDF3-65053D0E47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26275-FF70-FA27-9321-995417D455D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F6588F-CF44-CB6F-FF78-BDC4C6494A0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76509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06F20-B0FF-58A0-8EF2-AC0A0C2B193A}"/>
              </a:ext>
            </a:extLst>
          </p:cNvPr>
          <p:cNvSpPr>
            <a:spLocks noGrp="1"/>
          </p:cNvSpPr>
          <p:nvPr>
            <p:ph type="ctrTitle"/>
          </p:nvPr>
        </p:nvSpPr>
        <p:spPr>
          <a:xfrm>
            <a:off x="3048000" y="2244726"/>
            <a:ext cx="18288000" cy="4775200"/>
          </a:xfrm>
        </p:spPr>
        <p:txBody>
          <a:bodyPr anchor="b"/>
          <a:lstStyle>
            <a:lvl1pPr algn="ctr">
              <a:defRPr sz="12000"/>
            </a:lvl1pPr>
          </a:lstStyle>
          <a:p>
            <a:r>
              <a:rPr lang="en-US"/>
              <a:t>Click to edit Master title style</a:t>
            </a:r>
            <a:endParaRPr lang="en-IN"/>
          </a:p>
        </p:txBody>
      </p:sp>
      <p:sp>
        <p:nvSpPr>
          <p:cNvPr id="3" name="Subtitle 2">
            <a:extLst>
              <a:ext uri="{FF2B5EF4-FFF2-40B4-BE49-F238E27FC236}">
                <a16:creationId xmlns:a16="http://schemas.microsoft.com/office/drawing/2014/main" id="{7DC85255-32B0-5A82-6F18-3AF223FF447D}"/>
              </a:ext>
            </a:extLst>
          </p:cNvPr>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83FA78-4F83-2766-4534-7C1AEC20D19E}"/>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5" name="Footer Placeholder 4">
            <a:extLst>
              <a:ext uri="{FF2B5EF4-FFF2-40B4-BE49-F238E27FC236}">
                <a16:creationId xmlns:a16="http://schemas.microsoft.com/office/drawing/2014/main" id="{BED2C702-0E14-1514-1A2F-DD02D80633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53FBC-F86E-C787-1403-45A45DFA2717}"/>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829319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3781E-1B9B-18E2-270D-ED764D6681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1B64F0-F5B9-1B2B-BE26-2DD26D08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F6FB59-F9DF-1A78-D84D-136A90DB8F71}"/>
              </a:ext>
            </a:extLst>
          </p:cNvPr>
          <p:cNvSpPr>
            <a:spLocks noGrp="1"/>
          </p:cNvSpPr>
          <p:nvPr>
            <p:ph type="dt" sz="half" idx="10"/>
          </p:nvPr>
        </p:nvSpPr>
        <p:spPr/>
        <p:txBody>
          <a:bodyPr/>
          <a:lstStyle/>
          <a:p>
            <a:pPr>
              <a:defRPr/>
            </a:pPr>
            <a:fld id="{408FB5E9-597B-44D2-9D1D-F9C4A68DA998}" type="datetimeFigureOut">
              <a:rPr lang="en-US" smtClean="0"/>
              <a:pPr>
                <a:defRPr/>
              </a:pPr>
              <a:t>3/7/26</a:t>
            </a:fld>
            <a:endParaRPr lang="en-US"/>
          </a:p>
        </p:txBody>
      </p:sp>
      <p:sp>
        <p:nvSpPr>
          <p:cNvPr id="5" name="Footer Placeholder 4">
            <a:extLst>
              <a:ext uri="{FF2B5EF4-FFF2-40B4-BE49-F238E27FC236}">
                <a16:creationId xmlns:a16="http://schemas.microsoft.com/office/drawing/2014/main" id="{CAA34503-9EB7-D355-5461-5DC745C3BB0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10C204A-02BA-2290-263D-A7E7FD0354F6}"/>
              </a:ext>
            </a:extLst>
          </p:cNvPr>
          <p:cNvSpPr>
            <a:spLocks noGrp="1"/>
          </p:cNvSpPr>
          <p:nvPr>
            <p:ph type="sldNum" sz="quarter" idx="12"/>
          </p:nvPr>
        </p:nvSpPr>
        <p:spPr/>
        <p:txBody>
          <a:bodyPr/>
          <a:lstStyle/>
          <a:p>
            <a:pPr>
              <a:defRPr/>
            </a:pPr>
            <a:fld id="{4A7EAAEF-6DF1-471D-B67F-92F1EBC60A9A}" type="slidenum">
              <a:rPr lang="en-US" altLang="en-US" smtClean="0"/>
              <a:pPr>
                <a:defRPr/>
              </a:pPr>
              <a:t>‹#›</a:t>
            </a:fld>
            <a:endParaRPr lang="en-US" altLang="en-US"/>
          </a:p>
        </p:txBody>
      </p:sp>
    </p:spTree>
    <p:extLst>
      <p:ext uri="{BB962C8B-B14F-4D97-AF65-F5344CB8AC3E}">
        <p14:creationId xmlns:p14="http://schemas.microsoft.com/office/powerpoint/2010/main" val="3526262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B6897-6A5A-5A9E-F4E6-8668CCC66576}"/>
              </a:ext>
            </a:extLst>
          </p:cNvPr>
          <p:cNvSpPr>
            <a:spLocks noGrp="1"/>
          </p:cNvSpPr>
          <p:nvPr>
            <p:ph type="title"/>
          </p:nvPr>
        </p:nvSpPr>
        <p:spPr>
          <a:xfrm>
            <a:off x="1663700" y="3419477"/>
            <a:ext cx="21031200" cy="5705474"/>
          </a:xfrm>
        </p:spPr>
        <p:txBody>
          <a:bodyPr anchor="b"/>
          <a:lstStyle>
            <a:lvl1pPr>
              <a:defRPr sz="12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3D144B-EC0D-1E83-78DB-E6631DF685E2}"/>
              </a:ext>
            </a:extLst>
          </p:cNvPr>
          <p:cNvSpPr>
            <a:spLocks noGrp="1"/>
          </p:cNvSpPr>
          <p:nvPr>
            <p:ph type="body" idx="1"/>
          </p:nvPr>
        </p:nvSpPr>
        <p:spPr>
          <a:xfrm>
            <a:off x="1663700" y="9178927"/>
            <a:ext cx="21031200"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FCEDAB-944D-062A-63DF-ABCD715A3F9E}"/>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5" name="Footer Placeholder 4">
            <a:extLst>
              <a:ext uri="{FF2B5EF4-FFF2-40B4-BE49-F238E27FC236}">
                <a16:creationId xmlns:a16="http://schemas.microsoft.com/office/drawing/2014/main" id="{BB8C0FD1-7DF1-3203-59D9-D14BCECEFF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E74BC3-31CE-9A18-79BA-64555CA85F72}"/>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4293234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FD4F8-4BF9-91B7-C788-2F3DC3DA2F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0EA2E8-9CC3-C95D-F332-B0A94D652416}"/>
              </a:ext>
            </a:extLst>
          </p:cNvPr>
          <p:cNvSpPr>
            <a:spLocks noGrp="1"/>
          </p:cNvSpPr>
          <p:nvPr>
            <p:ph sz="half" idx="1"/>
          </p:nvPr>
        </p:nvSpPr>
        <p:spPr>
          <a:xfrm>
            <a:off x="1676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FCD6788-E788-2C5A-D92C-B6AEC9AD1D42}"/>
              </a:ext>
            </a:extLst>
          </p:cNvPr>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7006A5-845F-36FD-D6B3-A301A73F3E46}"/>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6" name="Footer Placeholder 5">
            <a:extLst>
              <a:ext uri="{FF2B5EF4-FFF2-40B4-BE49-F238E27FC236}">
                <a16:creationId xmlns:a16="http://schemas.microsoft.com/office/drawing/2014/main" id="{B2E98C37-1B1C-7CEE-887C-09709CB584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915712-656A-36E6-F9E2-7DFF45F30152}"/>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072619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D00D-FA3B-E9DC-E9B6-3DD21088E105}"/>
              </a:ext>
            </a:extLst>
          </p:cNvPr>
          <p:cNvSpPr>
            <a:spLocks noGrp="1"/>
          </p:cNvSpPr>
          <p:nvPr>
            <p:ph type="title"/>
          </p:nvPr>
        </p:nvSpPr>
        <p:spPr>
          <a:xfrm>
            <a:off x="1679576" y="730251"/>
            <a:ext cx="21031200" cy="265112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5135EC-FAD1-0ABE-26BE-EFCA933713AB}"/>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a:extLst>
              <a:ext uri="{FF2B5EF4-FFF2-40B4-BE49-F238E27FC236}">
                <a16:creationId xmlns:a16="http://schemas.microsoft.com/office/drawing/2014/main" id="{5FF80EC0-CC7B-743A-A00A-09957284304C}"/>
              </a:ext>
            </a:extLst>
          </p:cNvPr>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8F9BCA-6ED1-6BB3-5D1A-0DFB5719CB1A}"/>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B3BA2-4648-2350-87E7-C4AE294FAB51}"/>
              </a:ext>
            </a:extLst>
          </p:cNvPr>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D5CC92C-5F38-FE06-D17B-EE78C9C4A40D}"/>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8" name="Footer Placeholder 7">
            <a:extLst>
              <a:ext uri="{FF2B5EF4-FFF2-40B4-BE49-F238E27FC236}">
                <a16:creationId xmlns:a16="http://schemas.microsoft.com/office/drawing/2014/main" id="{ABA90124-95DC-DC6D-957D-50396EDCC3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FB824C-77FC-DBF1-5F3E-B5EE85B65849}"/>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005012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7900-6725-7D5A-738D-3733CBC4F7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3B4E51-FAE2-5CC5-D696-81B37212BB2C}"/>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4" name="Footer Placeholder 3">
            <a:extLst>
              <a:ext uri="{FF2B5EF4-FFF2-40B4-BE49-F238E27FC236}">
                <a16:creationId xmlns:a16="http://schemas.microsoft.com/office/drawing/2014/main" id="{C6AF700A-1592-B1C9-0AA8-4A066AD8AD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362DC8-F827-4C92-4F97-F4F5463D03B8}"/>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834367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C215F-C377-FFE7-D282-09542DAC4668}"/>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3" name="Footer Placeholder 2">
            <a:extLst>
              <a:ext uri="{FF2B5EF4-FFF2-40B4-BE49-F238E27FC236}">
                <a16:creationId xmlns:a16="http://schemas.microsoft.com/office/drawing/2014/main" id="{B017A3FE-C78B-6380-7DCE-53F4E6381D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0215C3F-9DBD-48EA-C286-E9BFCD1F5231}"/>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72601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8B0FC-F02C-C874-6264-F2807F2717EA}"/>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E9857C-E7FF-7E00-0D9F-0D906B9DA342}"/>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5E439D-A148-3E2F-F1D2-AB77CDC90CA3}"/>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6349DFB6-74B8-E163-55C3-7250852B1445}"/>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6" name="Footer Placeholder 5">
            <a:extLst>
              <a:ext uri="{FF2B5EF4-FFF2-40B4-BE49-F238E27FC236}">
                <a16:creationId xmlns:a16="http://schemas.microsoft.com/office/drawing/2014/main" id="{0177D32F-8202-0A20-F8CF-1DD655B36D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ED1012-D819-34A0-DB92-A7AF9F88AA35}"/>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06805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B4CC8-4E55-FF95-72D9-21B47626C11B}"/>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02F381-1258-1197-EA30-A6251575E53E}"/>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IN"/>
          </a:p>
        </p:txBody>
      </p:sp>
      <p:sp>
        <p:nvSpPr>
          <p:cNvPr id="4" name="Text Placeholder 3">
            <a:extLst>
              <a:ext uri="{FF2B5EF4-FFF2-40B4-BE49-F238E27FC236}">
                <a16:creationId xmlns:a16="http://schemas.microsoft.com/office/drawing/2014/main" id="{60357D96-B126-C542-0A48-9AC4940A26CA}"/>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5066DCDB-BB2C-D5A4-50C4-F3B1F695026B}"/>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6" name="Footer Placeholder 5">
            <a:extLst>
              <a:ext uri="{FF2B5EF4-FFF2-40B4-BE49-F238E27FC236}">
                <a16:creationId xmlns:a16="http://schemas.microsoft.com/office/drawing/2014/main" id="{59968611-DF40-664A-7792-1F66E5CD90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DFBA18-D9D6-B7A3-EE02-78B837AE2E8C}"/>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81878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2F6B5-D396-3178-1F5C-AE4A8553A8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11AC64-37B7-239E-AE21-B4684F6660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BC8025-0631-8DB2-1693-F50946C79BD0}"/>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5" name="Footer Placeholder 4">
            <a:extLst>
              <a:ext uri="{FF2B5EF4-FFF2-40B4-BE49-F238E27FC236}">
                <a16:creationId xmlns:a16="http://schemas.microsoft.com/office/drawing/2014/main" id="{44EEF9A5-02B3-DCFB-63AD-5606A0D25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BDFF83-C530-065A-AFBE-0D32967D7D35}"/>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998096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981349-0FDD-7C9A-FF72-7722D9BD92FD}"/>
              </a:ext>
            </a:extLst>
          </p:cNvPr>
          <p:cNvSpPr>
            <a:spLocks noGrp="1"/>
          </p:cNvSpPr>
          <p:nvPr>
            <p:ph type="title" orient="vert"/>
          </p:nvPr>
        </p:nvSpPr>
        <p:spPr>
          <a:xfrm>
            <a:off x="17449800" y="730250"/>
            <a:ext cx="5257800" cy="1162367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AF6D29-419A-7EFC-D618-54013FD18849}"/>
              </a:ext>
            </a:extLst>
          </p:cNvPr>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3C2182-E5A2-30A5-39AA-E6B0167D5AF8}"/>
              </a:ext>
            </a:extLst>
          </p:cNvPr>
          <p:cNvSpPr>
            <a:spLocks noGrp="1"/>
          </p:cNvSpPr>
          <p:nvPr>
            <p:ph type="dt" sz="half" idx="10"/>
          </p:nvPr>
        </p:nvSpPr>
        <p:spPr/>
        <p:txBody>
          <a:bodyPr/>
          <a:lstStyle/>
          <a:p>
            <a:fld id="{62B49E36-3564-4EE8-9967-A20F8EEB1D54}" type="datetimeFigureOut">
              <a:rPr lang="en-IN" smtClean="0"/>
              <a:t>07/03/26</a:t>
            </a:fld>
            <a:endParaRPr lang="en-IN"/>
          </a:p>
        </p:txBody>
      </p:sp>
      <p:sp>
        <p:nvSpPr>
          <p:cNvPr id="5" name="Footer Placeholder 4">
            <a:extLst>
              <a:ext uri="{FF2B5EF4-FFF2-40B4-BE49-F238E27FC236}">
                <a16:creationId xmlns:a16="http://schemas.microsoft.com/office/drawing/2014/main" id="{427891DE-2C08-B3C9-FDA3-BD43E105B4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088502-B8DD-FE32-0527-D54ECD0A5842}"/>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3240632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6720340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B7685-8769-2232-DB1E-93B631B75D96}"/>
              </a:ext>
            </a:extLst>
          </p:cNvPr>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7726DF-D2B7-6B6A-511B-83204F982ABA}"/>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920B57-BD70-39BD-170E-A6D00394A9C9}"/>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62B49E36-3564-4EE8-9967-A20F8EEB1D54}" type="datetimeFigureOut">
              <a:rPr lang="en-IN" smtClean="0"/>
              <a:t>07/03/26</a:t>
            </a:fld>
            <a:endParaRPr lang="en-IN"/>
          </a:p>
        </p:txBody>
      </p:sp>
      <p:sp>
        <p:nvSpPr>
          <p:cNvPr id="5" name="Footer Placeholder 4">
            <a:extLst>
              <a:ext uri="{FF2B5EF4-FFF2-40B4-BE49-F238E27FC236}">
                <a16:creationId xmlns:a16="http://schemas.microsoft.com/office/drawing/2014/main" id="{51DBFA61-816C-CDC4-DBE7-35E41DEB87D6}"/>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2AB1725-18D4-719B-1EFB-8DB139C93296}"/>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86CB4B4D-7CA3-9044-876B-883B54F8677D}" type="slidenum">
              <a:rPr lang="en-IN" smtClean="0"/>
              <a:t>‹#›</a:t>
            </a:fld>
            <a:endParaRPr lang="en-IN"/>
          </a:p>
        </p:txBody>
      </p:sp>
    </p:spTree>
    <p:extLst>
      <p:ext uri="{BB962C8B-B14F-4D97-AF65-F5344CB8AC3E}">
        <p14:creationId xmlns:p14="http://schemas.microsoft.com/office/powerpoint/2010/main" val="193389341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01-01.jpg"/>
          <p:cNvPicPr>
            <a:picLocks noChangeAspect="1"/>
          </p:cNvPicPr>
          <p:nvPr/>
        </p:nvPicPr>
        <p:blipFill>
          <a:blip r:embed="rId2"/>
          <a:stretch>
            <a:fillRect/>
          </a:stretch>
        </p:blipFill>
        <p:spPr>
          <a:xfrm>
            <a:off x="0" y="42530"/>
            <a:ext cx="24384000" cy="13716000"/>
          </a:xfrm>
          <a:prstGeom prst="rect">
            <a:avLst/>
          </a:prstGeom>
          <a:ln w="12700">
            <a:miter lim="400000"/>
          </a:ln>
        </p:spPr>
      </p:pic>
      <p:sp>
        <p:nvSpPr>
          <p:cNvPr id="21" name="Shape 21"/>
          <p:cNvSpPr>
            <a:spLocks noGrp="1"/>
          </p:cNvSpPr>
          <p:nvPr>
            <p:ph type="ctrTitle" idx="4294967295"/>
          </p:nvPr>
        </p:nvSpPr>
        <p:spPr>
          <a:xfrm>
            <a:off x="1193800" y="4152900"/>
            <a:ext cx="18430875" cy="2108200"/>
          </a:xfrm>
          <a:prstGeom prst="rect">
            <a:avLst/>
          </a:prstGeom>
        </p:spPr>
        <p:txBody>
          <a:bodyPr lIns="50800" tIns="50800" rIns="50800" bIns="50800" anchor="t">
            <a:noAutofit/>
          </a:bodyPr>
          <a:lstStyle>
            <a:lvl1pPr>
              <a:defRPr sz="11000">
                <a:solidFill>
                  <a:srgbClr val="86E9EA"/>
                </a:solidFill>
                <a:latin typeface="Arial"/>
                <a:ea typeface="Arial"/>
                <a:cs typeface="Arial"/>
                <a:sym typeface="Arial"/>
              </a:defRPr>
            </a:lvl1pPr>
          </a:lstStyle>
          <a:p>
            <a:r>
              <a:rPr lang="en-US" dirty="0"/>
              <a:t>Innovation Lab &amp; Grand Challenge (ILGC) Studio - 2</a:t>
            </a:r>
            <a:endParaRPr dirty="0"/>
          </a:p>
        </p:txBody>
      </p:sp>
      <p:sp>
        <p:nvSpPr>
          <p:cNvPr id="22" name="Shape 22"/>
          <p:cNvSpPr/>
          <p:nvPr/>
        </p:nvSpPr>
        <p:spPr>
          <a:xfrm>
            <a:off x="1778000" y="8360022"/>
            <a:ext cx="9059105" cy="100130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lvl1pPr algn="l">
              <a:defRPr sz="3200" b="1" spc="96">
                <a:solidFill>
                  <a:srgbClr val="CBCBCB"/>
                </a:solidFill>
                <a:latin typeface="Arial"/>
                <a:ea typeface="Arial"/>
                <a:cs typeface="Arial"/>
                <a:sym typeface="Arial"/>
              </a:defRPr>
            </a:lvl1pPr>
          </a:lstStyle>
          <a:p>
            <a:endParaRPr/>
          </a:p>
        </p:txBody>
      </p:sp>
      <p:sp>
        <p:nvSpPr>
          <p:cNvPr id="23" name="Shape 23"/>
          <p:cNvSpPr/>
          <p:nvPr/>
        </p:nvSpPr>
        <p:spPr>
          <a:xfrm>
            <a:off x="1854200" y="7500346"/>
            <a:ext cx="9059105" cy="1001308"/>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2800">
                <a:solidFill>
                  <a:srgbClr val="CBCBCB"/>
                </a:solidFill>
                <a:latin typeface="Arial"/>
                <a:ea typeface="Arial"/>
                <a:cs typeface="Arial"/>
                <a:sym typeface="Arial"/>
              </a:defRPr>
            </a:lvl1pPr>
          </a:lstStyle>
          <a:p>
            <a:r>
              <a:rPr lang="en-US" sz="6000" b="1" dirty="0"/>
              <a:t>WEEK – 6, Lecture</a:t>
            </a:r>
            <a:endParaRPr sz="6000" b="1" dirty="0"/>
          </a:p>
        </p:txBody>
      </p:sp>
      <p:pic>
        <p:nvPicPr>
          <p:cNvPr id="24" name="PU_White_Primary.png"/>
          <p:cNvPicPr>
            <a:picLocks noChangeAspect="1"/>
          </p:cNvPicPr>
          <p:nvPr/>
        </p:nvPicPr>
        <p:blipFill>
          <a:blip r:embed="rId3"/>
          <a:stretch>
            <a:fillRect/>
          </a:stretch>
        </p:blipFill>
        <p:spPr>
          <a:xfrm>
            <a:off x="1108355" y="9732909"/>
            <a:ext cx="7221186" cy="3265048"/>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46440A-D65B-55B2-3204-462029445E58}"/>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FA8EA282-38BE-DD99-5A0D-D1F1989405F7}"/>
              </a:ext>
            </a:extLst>
          </p:cNvPr>
          <p:cNvSpPr/>
          <p:nvPr/>
        </p:nvSpPr>
        <p:spPr>
          <a:xfrm>
            <a:off x="2043696" y="1478435"/>
            <a:ext cx="17190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Instructions</a:t>
            </a:r>
          </a:p>
        </p:txBody>
      </p:sp>
      <p:sp>
        <p:nvSpPr>
          <p:cNvPr id="2" name="TextBox 1">
            <a:extLst>
              <a:ext uri="{FF2B5EF4-FFF2-40B4-BE49-F238E27FC236}">
                <a16:creationId xmlns:a16="http://schemas.microsoft.com/office/drawing/2014/main" id="{3020A92D-8581-A93E-43C2-1E5B28DFF64D}"/>
              </a:ext>
            </a:extLst>
          </p:cNvPr>
          <p:cNvSpPr txBox="1"/>
          <p:nvPr/>
        </p:nvSpPr>
        <p:spPr>
          <a:xfrm>
            <a:off x="2387600" y="3835400"/>
            <a:ext cx="20396200" cy="97872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85800" indent="-685800">
              <a:buFont typeface="Arial,Sans-Serif"/>
              <a:buChar char="•"/>
            </a:pPr>
            <a:r>
              <a:rPr lang="en-US" sz="5400">
                <a:solidFill>
                  <a:srgbClr val="222222"/>
                </a:solidFill>
                <a:latin typeface="Arial"/>
                <a:ea typeface="Arial"/>
                <a:cs typeface="Arial"/>
              </a:rPr>
              <a:t>Work in your new groups for this in class activity</a:t>
            </a:r>
          </a:p>
          <a:p>
            <a:pPr marL="685800" indent="-685800">
              <a:buFont typeface="Arial,Sans-Serif"/>
              <a:buChar char="•"/>
            </a:pPr>
            <a:r>
              <a:rPr lang="en-US" sz="5400">
                <a:solidFill>
                  <a:srgbClr val="222222"/>
                </a:solidFill>
                <a:latin typeface="Arial"/>
                <a:ea typeface="Arial"/>
                <a:cs typeface="Arial"/>
              </a:rPr>
              <a:t>Use the template attached on Moodle (also discussed in class) to submit your in-class assignment</a:t>
            </a:r>
          </a:p>
          <a:p>
            <a:pPr marL="685800" indent="-685800">
              <a:buFont typeface="Arial,Sans-Serif"/>
              <a:buChar char="•"/>
            </a:pPr>
            <a:r>
              <a:rPr lang="en-US" sz="5400">
                <a:solidFill>
                  <a:srgbClr val="222222"/>
                </a:solidFill>
                <a:latin typeface="Arial"/>
                <a:cs typeface="Arial"/>
              </a:rPr>
              <a:t>Make sure to include all components mentioned in the template </a:t>
            </a:r>
          </a:p>
          <a:p>
            <a:pPr marL="685800" indent="-685800">
              <a:buFont typeface="Arial,Sans-Serif"/>
              <a:buChar char="•"/>
            </a:pPr>
            <a:r>
              <a:rPr lang="en-US" sz="5400">
                <a:solidFill>
                  <a:srgbClr val="222222"/>
                </a:solidFill>
                <a:latin typeface="Arial"/>
                <a:cs typeface="Arial"/>
              </a:rPr>
              <a:t>One person from the team should make the submission on Moodle on behalf of the group.</a:t>
            </a:r>
          </a:p>
          <a:p>
            <a:pPr marL="685800" indent="-685800">
              <a:buFont typeface="Arial,Sans-Serif"/>
              <a:buChar char="•"/>
            </a:pPr>
            <a:r>
              <a:rPr lang="en-US" sz="5400">
                <a:solidFill>
                  <a:srgbClr val="222222"/>
                </a:solidFill>
                <a:latin typeface="Arial"/>
                <a:cs typeface="Arial"/>
              </a:rPr>
              <a:t>Rename file as Group x- SWOT</a:t>
            </a:r>
          </a:p>
          <a:p>
            <a:pPr marL="685800" indent="-685800">
              <a:buFont typeface="Arial,Sans-Serif"/>
              <a:buChar char="•"/>
            </a:pPr>
            <a:endParaRPr lang="en-US" sz="5400">
              <a:solidFill>
                <a:srgbClr val="222222"/>
              </a:solidFill>
              <a:latin typeface="Arial"/>
              <a:cs typeface="Arial"/>
            </a:endParaRPr>
          </a:p>
          <a:p>
            <a:pPr marL="685800" indent="-685800">
              <a:buFont typeface="Arial,Sans-Serif"/>
              <a:buChar char="•"/>
            </a:pPr>
            <a:endParaRPr lang="en-US" sz="5400">
              <a:solidFill>
                <a:srgbClr val="222222"/>
              </a:solidFill>
              <a:latin typeface="Arial"/>
              <a:cs typeface="Arial"/>
            </a:endParaRPr>
          </a:p>
          <a:p>
            <a:pPr marL="685800" indent="-685800">
              <a:buFont typeface="Arial,Sans-Serif"/>
              <a:buChar char="•"/>
            </a:pPr>
            <a:endParaRPr lang="en-US" sz="5400">
              <a:solidFill>
                <a:srgbClr val="222222"/>
              </a:solidFill>
              <a:latin typeface="Arial"/>
              <a:cs typeface="Arial"/>
            </a:endParaRPr>
          </a:p>
          <a:p>
            <a:pPr marL="685800" indent="-685800">
              <a:buFont typeface="Arial,Sans-Serif"/>
              <a:buChar char="•"/>
            </a:pPr>
            <a:endParaRPr lang="en-US" sz="5400">
              <a:solidFill>
                <a:srgbClr val="222222"/>
              </a:solidFill>
              <a:latin typeface="Arial"/>
              <a:cs typeface="Arial"/>
            </a:endParaRPr>
          </a:p>
          <a:p>
            <a:pPr marL="685800" indent="-685800">
              <a:buFont typeface="Arial,Sans-Serif"/>
              <a:buChar char="•"/>
            </a:pPr>
            <a:endParaRPr lang="en-US">
              <a:latin typeface="Arial"/>
              <a:cs typeface="Arial"/>
            </a:endParaRPr>
          </a:p>
          <a:p>
            <a:pPr algn="ctr"/>
            <a:endParaRPr lang="en-US"/>
          </a:p>
        </p:txBody>
      </p:sp>
    </p:spTree>
    <p:extLst>
      <p:ext uri="{BB962C8B-B14F-4D97-AF65-F5344CB8AC3E}">
        <p14:creationId xmlns:p14="http://schemas.microsoft.com/office/powerpoint/2010/main" val="41075597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00510D-1D89-F321-7AC4-84F836D687E2}"/>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AF49D204-5AF9-D8D8-F85C-8C1C19044C53}"/>
              </a:ext>
            </a:extLst>
          </p:cNvPr>
          <p:cNvSpPr/>
          <p:nvPr/>
        </p:nvSpPr>
        <p:spPr>
          <a:xfrm>
            <a:off x="1670522" y="1306453"/>
            <a:ext cx="19840516" cy="210813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Boundary conditions</a:t>
            </a:r>
          </a:p>
        </p:txBody>
      </p:sp>
      <p:sp>
        <p:nvSpPr>
          <p:cNvPr id="2" name="Shape 32">
            <a:extLst>
              <a:ext uri="{FF2B5EF4-FFF2-40B4-BE49-F238E27FC236}">
                <a16:creationId xmlns:a16="http://schemas.microsoft.com/office/drawing/2014/main" id="{2AC1DB2E-7259-95DF-8A73-313C340A939E}"/>
              </a:ext>
            </a:extLst>
          </p:cNvPr>
          <p:cNvSpPr/>
          <p:nvPr/>
        </p:nvSpPr>
        <p:spPr>
          <a:xfrm>
            <a:off x="1376591" y="2853071"/>
            <a:ext cx="22582513" cy="5146705"/>
          </a:xfrm>
          <a:prstGeom prst="rect">
            <a:avLst/>
          </a:prstGeom>
          <a:noFill/>
          <a:ln w="12700">
            <a:miter lim="400000"/>
          </a:ln>
          <a:extLst>
            <a:ext uri="{C572A759-6A51-4108-AA02-DFA0A04FC94B}">
              <ma14:wrappingTextBoxFlag xmlns:ma14="http://schemas.microsoft.com/office/mac/drawingml/2011/main" xmlns="" val="1"/>
            </a:ext>
          </a:extLst>
        </p:spPr>
        <p:txBody>
          <a:bodyPr wrap="square" lIns="33865" tIns="33865" rIns="33865" bIns="33865" anchor="t">
            <a:spAutoFit/>
          </a:bodyPr>
          <a:lstStyle/>
          <a:p>
            <a:pPr marL="685800" indent="-685800" defTabSz="550332">
              <a:spcBef>
                <a:spcPts val="1200"/>
              </a:spcBef>
              <a:spcAft>
                <a:spcPts val="1200"/>
              </a:spcAft>
              <a:buFont typeface="Arial"/>
              <a:buChar char="•"/>
              <a:defRPr sz="3400">
                <a:solidFill>
                  <a:srgbClr val="222222"/>
                </a:solidFill>
                <a:latin typeface="Arial"/>
                <a:ea typeface="Arial"/>
                <a:cs typeface="Arial"/>
                <a:sym typeface="Arial"/>
              </a:defRPr>
            </a:pPr>
            <a:r>
              <a:rPr lang="en-US" sz="5400">
                <a:solidFill>
                  <a:srgbClr val="222222"/>
                </a:solidFill>
                <a:latin typeface="Arial"/>
                <a:ea typeface="Calibri"/>
                <a:cs typeface="Arial"/>
              </a:rPr>
              <a:t>Ensure your group has identified a problem in the given zone. </a:t>
            </a:r>
            <a:endParaRPr lang="en-US" sz="3400">
              <a:solidFill>
                <a:srgbClr val="222222"/>
              </a:solidFill>
              <a:latin typeface="Arial"/>
              <a:ea typeface="Calibri"/>
              <a:cs typeface="Arial"/>
            </a:endParaRPr>
          </a:p>
          <a:p>
            <a:pPr marL="685800" indent="-685800" defTabSz="550332">
              <a:spcBef>
                <a:spcPts val="1200"/>
              </a:spcBef>
              <a:spcAft>
                <a:spcPts val="1200"/>
              </a:spcAft>
              <a:buFont typeface="Arial"/>
              <a:buChar char="•"/>
              <a:defRPr sz="3400">
                <a:solidFill>
                  <a:srgbClr val="222222"/>
                </a:solidFill>
                <a:latin typeface="Arial"/>
                <a:ea typeface="Arial"/>
                <a:cs typeface="Arial"/>
                <a:sym typeface="Arial"/>
              </a:defRPr>
            </a:pPr>
            <a:r>
              <a:rPr lang="en-US" sz="5400">
                <a:solidFill>
                  <a:srgbClr val="222222"/>
                </a:solidFill>
                <a:latin typeface="Arial"/>
                <a:ea typeface="Calibri"/>
                <a:cs typeface="Arial"/>
              </a:rPr>
              <a:t>Your solution should be </a:t>
            </a:r>
            <a:r>
              <a:rPr lang="en-US" sz="5400" b="1">
                <a:solidFill>
                  <a:srgbClr val="222222"/>
                </a:solidFill>
                <a:latin typeface="Arial"/>
                <a:ea typeface="Calibri"/>
                <a:cs typeface="Arial"/>
              </a:rPr>
              <a:t>actionable (Keep that in mind while finalizing on a problem identified</a:t>
            </a:r>
            <a:endParaRPr lang="en-US"/>
          </a:p>
          <a:p>
            <a:pPr marL="685800" indent="-685800" defTabSz="550332">
              <a:spcBef>
                <a:spcPts val="1200"/>
              </a:spcBef>
              <a:spcAft>
                <a:spcPts val="1200"/>
              </a:spcAft>
              <a:buFont typeface="Arial"/>
              <a:buChar char="•"/>
              <a:defRPr sz="3400">
                <a:solidFill>
                  <a:srgbClr val="222222"/>
                </a:solidFill>
                <a:latin typeface="Arial"/>
                <a:ea typeface="Arial"/>
                <a:cs typeface="Arial"/>
                <a:sym typeface="Arial"/>
              </a:defRPr>
            </a:pPr>
            <a:endParaRPr lang="en-US" sz="5400" b="1">
              <a:solidFill>
                <a:srgbClr val="222222"/>
              </a:solidFill>
              <a:latin typeface="Arial"/>
              <a:ea typeface="Calibri"/>
              <a:cs typeface="Arial"/>
            </a:endParaRPr>
          </a:p>
          <a:p>
            <a:pPr marL="685800" indent="-685800" defTabSz="550332">
              <a:spcBef>
                <a:spcPts val="1200"/>
              </a:spcBef>
              <a:spcAft>
                <a:spcPts val="1200"/>
              </a:spcAft>
              <a:buFont typeface="Arial"/>
              <a:buChar char="•"/>
              <a:defRPr sz="3400">
                <a:solidFill>
                  <a:srgbClr val="222222"/>
                </a:solidFill>
                <a:latin typeface="Arial"/>
                <a:ea typeface="Arial"/>
                <a:cs typeface="Arial"/>
                <a:sym typeface="Arial"/>
              </a:defRPr>
            </a:pPr>
            <a:endParaRPr lang="en-US" sz="5400" b="1">
              <a:solidFill>
                <a:srgbClr val="222222"/>
              </a:solidFill>
              <a:latin typeface="Arial"/>
              <a:ea typeface="Calibri"/>
              <a:cs typeface="Arial"/>
            </a:endParaRPr>
          </a:p>
        </p:txBody>
      </p:sp>
    </p:spTree>
    <p:extLst>
      <p:ext uri="{BB962C8B-B14F-4D97-AF65-F5344CB8AC3E}">
        <p14:creationId xmlns:p14="http://schemas.microsoft.com/office/powerpoint/2010/main" val="98137428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9CA40-8804-89BA-5C4B-5B450B5199ED}"/>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05C7F371-958C-A6D4-6FF3-EEF9BCEBAAB7}"/>
              </a:ext>
            </a:extLst>
          </p:cNvPr>
          <p:cNvSpPr/>
          <p:nvPr/>
        </p:nvSpPr>
        <p:spPr>
          <a:xfrm>
            <a:off x="1871167" y="1478435"/>
            <a:ext cx="14169421" cy="104420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pPr defTabSz="825500" hangingPunct="0">
              <a:defRPr/>
            </a:pPr>
            <a:r>
              <a:rPr kumimoji="0" lang="en-US" sz="8000" b="0" i="0" u="none" strike="noStrike" kern="0" cap="none" spc="0" normalizeH="0" baseline="0" noProof="0">
                <a:ln>
                  <a:noFill/>
                </a:ln>
                <a:solidFill>
                  <a:srgbClr val="008A8B"/>
                </a:solidFill>
                <a:effectLst/>
                <a:uLnTx/>
                <a:uFillTx/>
                <a:latin typeface="Arial"/>
                <a:cs typeface="Arial"/>
                <a:sym typeface="Arial"/>
              </a:rPr>
              <a:t>Problem </a:t>
            </a:r>
            <a:r>
              <a:rPr lang="en-US" kern="0"/>
              <a:t>Statement </a:t>
            </a:r>
            <a:endParaRPr kumimoji="0" lang="en-US" sz="8000" b="0" i="0" u="none" strike="noStrike" kern="0" cap="none" spc="0" normalizeH="0" baseline="0" noProof="0">
              <a:ln>
                <a:noFill/>
              </a:ln>
              <a:solidFill>
                <a:srgbClr val="008A8B"/>
              </a:solidFill>
              <a:effectLst/>
              <a:uLnTx/>
              <a:uFillTx/>
              <a:latin typeface="Arial"/>
              <a:cs typeface="Arial"/>
              <a:sym typeface="Arial"/>
            </a:endParaRPr>
          </a:p>
        </p:txBody>
      </p:sp>
      <p:sp>
        <p:nvSpPr>
          <p:cNvPr id="4" name="Shape 31">
            <a:extLst>
              <a:ext uri="{FF2B5EF4-FFF2-40B4-BE49-F238E27FC236}">
                <a16:creationId xmlns:a16="http://schemas.microsoft.com/office/drawing/2014/main" id="{447A8B0F-34FD-2453-3FB5-3542146AAFD9}"/>
              </a:ext>
            </a:extLst>
          </p:cNvPr>
          <p:cNvSpPr/>
          <p:nvPr/>
        </p:nvSpPr>
        <p:spPr>
          <a:xfrm>
            <a:off x="2618789" y="3082332"/>
            <a:ext cx="20143545" cy="8211001"/>
          </a:xfrm>
          <a:prstGeom prst="rect">
            <a:avLst/>
          </a:prstGeom>
          <a:noFill/>
          <a:extLst>
            <a:ext uri="{C572A759-6A51-4108-AA02-DFA0A04FC94B}">
              <ma14:wrappingTextBoxFlag xmlns:ma14="http://schemas.microsoft.com/office/mac/drawingml/2011/main" xmlns="" val="1"/>
            </a:ext>
          </a:extLst>
        </p:spPr>
        <p:txBody>
          <a:bodyPr vert="horz" lIns="91440" tIns="45720" rIns="91440" bIns="45720" rtlCol="0" anchor="ctr">
            <a:noAutofit/>
          </a:bodyPr>
          <a:lstStyle>
            <a:lvl1pPr algn="l">
              <a:defRPr sz="8000">
                <a:solidFill>
                  <a:srgbClr val="008A8B"/>
                </a:solidFill>
                <a:latin typeface="Arial"/>
                <a:ea typeface="Arial"/>
                <a:cs typeface="Arial"/>
                <a:sym typeface="Arial"/>
              </a:defRPr>
            </a:lvl1pPr>
          </a:lstStyle>
          <a:p>
            <a:pPr marL="89535">
              <a:lnSpc>
                <a:spcPct val="90000"/>
              </a:lnSpc>
              <a:spcBef>
                <a:spcPct val="0"/>
              </a:spcBef>
              <a:spcAft>
                <a:spcPts val="600"/>
              </a:spcAft>
              <a:defRPr/>
            </a:pPr>
            <a:r>
              <a:rPr lang="en-US" sz="9600" b="1">
                <a:solidFill>
                  <a:schemeClr val="tx1"/>
                </a:solidFill>
                <a:latin typeface="+mj-lt"/>
                <a:ea typeface="+mj-ea"/>
                <a:cs typeface="+mj-cs"/>
              </a:rPr>
              <a:t>Outcome:</a:t>
            </a:r>
            <a:r>
              <a:rPr lang="en-US" sz="9600">
                <a:solidFill>
                  <a:schemeClr val="tx1"/>
                </a:solidFill>
                <a:latin typeface="+mj-lt"/>
                <a:ea typeface="+mj-ea"/>
                <a:cs typeface="+mj-cs"/>
              </a:rPr>
              <a:t> Write clear, evidence-based, and context-appropriate problem statements.</a:t>
            </a:r>
            <a:endParaRPr lang="en-US">
              <a:ea typeface="+mj-ea"/>
              <a:cs typeface="+mj-cs"/>
            </a:endParaRPr>
          </a:p>
        </p:txBody>
      </p:sp>
    </p:spTree>
    <p:extLst>
      <p:ext uri="{BB962C8B-B14F-4D97-AF65-F5344CB8AC3E}">
        <p14:creationId xmlns:p14="http://schemas.microsoft.com/office/powerpoint/2010/main" val="511853304"/>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4EAAA4-4DFC-F791-4ED7-B424C615D5EA}"/>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71D915A1-28E3-4CAD-BA9E-702C97E33A21}"/>
              </a:ext>
            </a:extLst>
          </p:cNvPr>
          <p:cNvSpPr/>
          <p:nvPr/>
        </p:nvSpPr>
        <p:spPr>
          <a:xfrm>
            <a:off x="1670522" y="1306453"/>
            <a:ext cx="19840516" cy="210813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Index</a:t>
            </a:r>
          </a:p>
        </p:txBody>
      </p:sp>
      <p:sp>
        <p:nvSpPr>
          <p:cNvPr id="2" name="Shape 32">
            <a:extLst>
              <a:ext uri="{FF2B5EF4-FFF2-40B4-BE49-F238E27FC236}">
                <a16:creationId xmlns:a16="http://schemas.microsoft.com/office/drawing/2014/main" id="{1F77BF88-4C85-F038-B988-7213E2F93530}"/>
              </a:ext>
            </a:extLst>
          </p:cNvPr>
          <p:cNvSpPr/>
          <p:nvPr/>
        </p:nvSpPr>
        <p:spPr>
          <a:xfrm>
            <a:off x="2113191" y="2980071"/>
            <a:ext cx="20525113" cy="8563025"/>
          </a:xfrm>
          <a:prstGeom prst="rect">
            <a:avLst/>
          </a:prstGeom>
          <a:noFill/>
          <a:ln w="12700">
            <a:miter lim="400000"/>
          </a:ln>
          <a:extLst>
            <a:ext uri="{C572A759-6A51-4108-AA02-DFA0A04FC94B}">
              <ma14:wrappingTextBoxFlag xmlns:ma14="http://schemas.microsoft.com/office/mac/drawingml/2011/main" xmlns="" val="1"/>
            </a:ext>
          </a:extLst>
        </p:spPr>
        <p:txBody>
          <a:bodyPr wrap="square" lIns="33865" tIns="33865" rIns="33865" bIns="33865" anchor="t">
            <a:spAutoFit/>
          </a:bodyPr>
          <a:lstStyle/>
          <a:p>
            <a:pPr defTabSz="550332">
              <a:spcBef>
                <a:spcPts val="1200"/>
              </a:spcBef>
              <a:spcAft>
                <a:spcPts val="1200"/>
              </a:spcAft>
              <a:defRPr sz="3400">
                <a:solidFill>
                  <a:srgbClr val="222222"/>
                </a:solidFill>
                <a:latin typeface="Arial"/>
                <a:ea typeface="Arial"/>
                <a:cs typeface="Arial"/>
                <a:sym typeface="Arial"/>
              </a:defRPr>
            </a:pPr>
            <a:r>
              <a:rPr lang="en-US" sz="5400" b="1" dirty="0">
                <a:ea typeface="Calibri"/>
              </a:rPr>
              <a:t>Group Name: Hexa25</a:t>
            </a:r>
          </a:p>
          <a:p>
            <a:pPr defTabSz="550332">
              <a:spcBef>
                <a:spcPts val="1200"/>
              </a:spcBef>
              <a:spcAft>
                <a:spcPts val="1200"/>
              </a:spcAft>
              <a:defRPr sz="3400">
                <a:solidFill>
                  <a:srgbClr val="222222"/>
                </a:solidFill>
                <a:latin typeface="Arial"/>
                <a:ea typeface="Arial"/>
                <a:cs typeface="Arial"/>
                <a:sym typeface="Arial"/>
              </a:defRPr>
            </a:pPr>
            <a:endParaRPr lang="en-US" sz="5400" b="1" dirty="0">
              <a:solidFill>
                <a:srgbClr val="222222"/>
              </a:solidFill>
              <a:latin typeface="Arial"/>
              <a:ea typeface="Calibri"/>
              <a:cs typeface="Arial"/>
            </a:endParaRPr>
          </a:p>
          <a:p>
            <a:pPr defTabSz="550332">
              <a:spcBef>
                <a:spcPts val="1200"/>
              </a:spcBef>
              <a:spcAft>
                <a:spcPts val="1200"/>
              </a:spcAft>
              <a:defRPr sz="3400">
                <a:solidFill>
                  <a:srgbClr val="222222"/>
                </a:solidFill>
                <a:latin typeface="Arial"/>
                <a:ea typeface="Arial"/>
                <a:cs typeface="Arial"/>
                <a:sym typeface="Arial"/>
              </a:defRPr>
            </a:pPr>
            <a:r>
              <a:rPr lang="en-US" sz="5400" b="1" dirty="0">
                <a:solidFill>
                  <a:srgbClr val="222222"/>
                </a:solidFill>
                <a:latin typeface="Arial"/>
                <a:ea typeface="Calibri"/>
                <a:cs typeface="Arial"/>
              </a:rPr>
              <a:t>Group Number: 25</a:t>
            </a:r>
          </a:p>
          <a:p>
            <a:pPr defTabSz="550332">
              <a:spcBef>
                <a:spcPts val="1200"/>
              </a:spcBef>
              <a:spcAft>
                <a:spcPts val="1200"/>
              </a:spcAft>
              <a:defRPr sz="3400">
                <a:solidFill>
                  <a:srgbClr val="222222"/>
                </a:solidFill>
                <a:latin typeface="Arial"/>
                <a:ea typeface="Arial"/>
                <a:cs typeface="Arial"/>
                <a:sym typeface="Arial"/>
              </a:defRPr>
            </a:pPr>
            <a:endParaRPr lang="en-US" sz="5400" b="1" dirty="0">
              <a:solidFill>
                <a:srgbClr val="222222"/>
              </a:solidFill>
              <a:latin typeface="Arial"/>
              <a:ea typeface="Calibri"/>
              <a:cs typeface="Arial"/>
            </a:endParaRPr>
          </a:p>
          <a:p>
            <a:pPr defTabSz="550332">
              <a:spcBef>
                <a:spcPts val="1200"/>
              </a:spcBef>
              <a:spcAft>
                <a:spcPts val="1200"/>
              </a:spcAft>
              <a:defRPr sz="3400">
                <a:solidFill>
                  <a:srgbClr val="222222"/>
                </a:solidFill>
                <a:latin typeface="Arial"/>
                <a:ea typeface="Arial"/>
                <a:cs typeface="Arial"/>
                <a:sym typeface="Arial"/>
              </a:defRPr>
            </a:pPr>
            <a:r>
              <a:rPr lang="en-US" sz="5400" b="1" dirty="0">
                <a:solidFill>
                  <a:srgbClr val="222222"/>
                </a:solidFill>
                <a:latin typeface="Arial"/>
                <a:ea typeface="Calibri"/>
                <a:cs typeface="Arial"/>
              </a:rPr>
              <a:t>Allotted Zone no and Areas: Zone 1, 2: </a:t>
            </a:r>
          </a:p>
          <a:p>
            <a:pPr defTabSz="550332">
              <a:spcBef>
                <a:spcPts val="1200"/>
              </a:spcBef>
              <a:spcAft>
                <a:spcPts val="1200"/>
              </a:spcAft>
              <a:defRPr sz="3400">
                <a:solidFill>
                  <a:srgbClr val="222222"/>
                </a:solidFill>
                <a:latin typeface="Arial"/>
                <a:ea typeface="Arial"/>
                <a:cs typeface="Arial"/>
                <a:sym typeface="Arial"/>
              </a:defRPr>
            </a:pPr>
            <a:endParaRPr lang="en-US" sz="5400" b="1" dirty="0">
              <a:solidFill>
                <a:srgbClr val="222222"/>
              </a:solidFill>
              <a:latin typeface="Arial"/>
              <a:ea typeface="Calibri"/>
              <a:cs typeface="Arial"/>
            </a:endParaRPr>
          </a:p>
          <a:p>
            <a:pPr defTabSz="550332">
              <a:spcBef>
                <a:spcPts val="1200"/>
              </a:spcBef>
              <a:spcAft>
                <a:spcPts val="1200"/>
              </a:spcAft>
              <a:defRPr sz="3400">
                <a:solidFill>
                  <a:srgbClr val="222222"/>
                </a:solidFill>
                <a:latin typeface="Arial"/>
                <a:ea typeface="Arial"/>
                <a:cs typeface="Arial"/>
                <a:sym typeface="Arial"/>
              </a:defRPr>
            </a:pPr>
            <a:r>
              <a:rPr lang="en-US" sz="5400" b="1" dirty="0">
                <a:solidFill>
                  <a:srgbClr val="222222"/>
                </a:solidFill>
                <a:latin typeface="Arial"/>
                <a:ea typeface="Calibri"/>
                <a:cs typeface="Arial"/>
              </a:rPr>
              <a:t>Member Names: Dhiraj Deva, Mauryan Jaiswal, Suryaansh, Greeshma Tanvi Reddy Tadi, Priyanka </a:t>
            </a:r>
            <a:r>
              <a:rPr lang="en-US" sz="5400" b="1" dirty="0" err="1">
                <a:solidFill>
                  <a:srgbClr val="222222"/>
                </a:solidFill>
                <a:latin typeface="Arial"/>
                <a:ea typeface="Calibri"/>
                <a:cs typeface="Arial"/>
              </a:rPr>
              <a:t>Chopurala</a:t>
            </a:r>
            <a:r>
              <a:rPr lang="en-US" sz="5400" b="1" dirty="0">
                <a:solidFill>
                  <a:srgbClr val="222222"/>
                </a:solidFill>
                <a:latin typeface="Arial"/>
                <a:ea typeface="Calibri"/>
                <a:cs typeface="Arial"/>
              </a:rPr>
              <a:t>, Harshil Jain</a:t>
            </a:r>
          </a:p>
        </p:txBody>
      </p:sp>
    </p:spTree>
    <p:extLst>
      <p:ext uri="{BB962C8B-B14F-4D97-AF65-F5344CB8AC3E}">
        <p14:creationId xmlns:p14="http://schemas.microsoft.com/office/powerpoint/2010/main" val="330587931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F1A175-BDAE-0B35-6B50-4B66E6E7329E}"/>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F3CF1C0D-B2BE-A67F-F626-6A29EFC6C881}"/>
              </a:ext>
            </a:extLst>
          </p:cNvPr>
          <p:cNvSpPr/>
          <p:nvPr/>
        </p:nvSpPr>
        <p:spPr>
          <a:xfrm>
            <a:off x="1671068" y="1421108"/>
            <a:ext cx="21762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List the problem identified week- 4 </a:t>
            </a:r>
          </a:p>
          <a:p>
            <a:endParaRPr lang="en-US">
              <a:solidFill>
                <a:srgbClr val="000000"/>
              </a:solidFill>
            </a:endParaRPr>
          </a:p>
          <a:p>
            <a:endParaRPr lang="en-US"/>
          </a:p>
          <a:p>
            <a:endParaRPr lang="en-US"/>
          </a:p>
        </p:txBody>
      </p:sp>
      <p:graphicFrame>
        <p:nvGraphicFramePr>
          <p:cNvPr id="3" name="Table 2">
            <a:extLst>
              <a:ext uri="{FF2B5EF4-FFF2-40B4-BE49-F238E27FC236}">
                <a16:creationId xmlns:a16="http://schemas.microsoft.com/office/drawing/2014/main" id="{02C637CB-11E2-3DB8-7AC9-2033346AB678}"/>
              </a:ext>
            </a:extLst>
          </p:cNvPr>
          <p:cNvGraphicFramePr>
            <a:graphicFrameLocks noGrp="1"/>
          </p:cNvGraphicFramePr>
          <p:nvPr>
            <p:extLst>
              <p:ext uri="{D42A27DB-BD31-4B8C-83A1-F6EECF244321}">
                <p14:modId xmlns:p14="http://schemas.microsoft.com/office/powerpoint/2010/main" val="486714219"/>
              </p:ext>
            </p:extLst>
          </p:nvPr>
        </p:nvGraphicFramePr>
        <p:xfrm>
          <a:off x="2442238" y="3425714"/>
          <a:ext cx="18888755" cy="7917349"/>
        </p:xfrm>
        <a:graphic>
          <a:graphicData uri="http://schemas.openxmlformats.org/drawingml/2006/table">
            <a:tbl>
              <a:tblPr bandRow="1">
                <a:tableStyleId>{5940675A-B579-460E-94D1-54222C63F5DA}</a:tableStyleId>
              </a:tblPr>
              <a:tblGrid>
                <a:gridCol w="4995046">
                  <a:extLst>
                    <a:ext uri="{9D8B030D-6E8A-4147-A177-3AD203B41FA5}">
                      <a16:colId xmlns:a16="http://schemas.microsoft.com/office/drawing/2014/main" val="3917652687"/>
                    </a:ext>
                  </a:extLst>
                </a:gridCol>
                <a:gridCol w="13893709">
                  <a:extLst>
                    <a:ext uri="{9D8B030D-6E8A-4147-A177-3AD203B41FA5}">
                      <a16:colId xmlns:a16="http://schemas.microsoft.com/office/drawing/2014/main" val="81345911"/>
                    </a:ext>
                  </a:extLst>
                </a:gridCol>
              </a:tblGrid>
              <a:tr h="1114847">
                <a:tc>
                  <a:txBody>
                    <a:bodyPr/>
                    <a:lstStyle/>
                    <a:p>
                      <a:pPr lvl="0" algn="ctr">
                        <a:buNone/>
                      </a:pPr>
                      <a:r>
                        <a:rPr lang="en-US" sz="4800" b="1" i="0" u="none" strike="noStrike" cap="none" spc="0" baseline="0">
                          <a:ln>
                            <a:noFill/>
                          </a:ln>
                          <a:solidFill>
                            <a:schemeClr val="bg1"/>
                          </a:solidFill>
                          <a:uFillTx/>
                          <a:latin typeface="Arial"/>
                          <a:ea typeface="+mn-ea"/>
                          <a:cs typeface="+mn-cs"/>
                        </a:rPr>
                        <a:t>Zone</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bg1"/>
                          </a:solidFill>
                          <a:latin typeface="Arial"/>
                        </a:rPr>
                        <a:t>Problem Statement </a:t>
                      </a:r>
                    </a:p>
                  </a:txBody>
                  <a:tcPr anchor="ctr">
                    <a:solidFill>
                      <a:srgbClr val="008A8B"/>
                    </a:solidFill>
                  </a:tcPr>
                </a:tc>
                <a:extLst>
                  <a:ext uri="{0D108BD9-81ED-4DB2-BD59-A6C34878D82A}">
                    <a16:rowId xmlns:a16="http://schemas.microsoft.com/office/drawing/2014/main" val="2136606143"/>
                  </a:ext>
                </a:extLst>
              </a:tr>
              <a:tr h="945931">
                <a:tc>
                  <a:txBody>
                    <a:bodyPr/>
                    <a:lstStyle/>
                    <a:p>
                      <a:pPr algn="ctr" fontAlgn="base">
                        <a:lnSpc>
                          <a:spcPts val="5250"/>
                        </a:lnSpc>
                        <a:buNone/>
                      </a:pPr>
                      <a:r>
                        <a:rPr lang="en-US" sz="3600" b="1" i="0" u="none" strike="noStrike" dirty="0">
                          <a:solidFill>
                            <a:srgbClr val="000000"/>
                          </a:solidFill>
                          <a:effectLst/>
                          <a:latin typeface="Arial"/>
                        </a:rPr>
                        <a:t>Zone 1- Idea 1</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0" indent="0" algn="l" fontAlgn="base">
                        <a:lnSpc>
                          <a:spcPts val="5250"/>
                        </a:lnSpc>
                        <a:buNone/>
                      </a:pPr>
                      <a:r>
                        <a:rPr lang="en-US" sz="3200" b="1" dirty="0"/>
                        <a:t>Inefficient lost-and-found management: </a:t>
                      </a:r>
                      <a:r>
                        <a:rPr lang="en-US" sz="3200" dirty="0"/>
                        <a:t>The current lost-and-found system on campus is poorly organized and lacks a digital tracking mechanism. As a result, packages and personal items are frequently misplaced, difficult to identify, and sometimes lost permanently, causing inconvenience and frustration among students.</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4158352676"/>
                  </a:ext>
                </a:extLst>
              </a:tr>
              <a:tr h="990981">
                <a:tc>
                  <a:txBody>
                    <a:bodyPr/>
                    <a:lstStyle/>
                    <a:p>
                      <a:pPr lvl="0" algn="ctr">
                        <a:lnSpc>
                          <a:spcPts val="5250"/>
                        </a:lnSpc>
                        <a:buNone/>
                      </a:pPr>
                      <a:r>
                        <a:rPr lang="en-US" sz="3600" b="1" i="0" u="none" strike="noStrike" noProof="0" dirty="0">
                          <a:solidFill>
                            <a:srgbClr val="000000"/>
                          </a:solidFill>
                          <a:effectLst/>
                          <a:latin typeface="Arial"/>
                        </a:rPr>
                        <a:t>Zone 1- Idea 2</a:t>
                      </a:r>
                      <a:endParaRPr lang="en-US" dirty="0"/>
                    </a:p>
                  </a:txBody>
                  <a:tcPr marL="68580" marR="68580">
                    <a:lnL w="9524">
                      <a:solidFill>
                        <a:srgbClr val="000000"/>
                      </a:solidFill>
                    </a:lnL>
                    <a:lnR w="9524">
                      <a:solidFill>
                        <a:srgbClr val="000000"/>
                      </a:solidFill>
                    </a:lnR>
                    <a:lnB w="9524">
                      <a:solidFill>
                        <a:srgbClr val="000000"/>
                      </a:solidFill>
                    </a:lnB>
                    <a:noFill/>
                  </a:tcPr>
                </a:tc>
                <a:tc>
                  <a:txBody>
                    <a:bodyPr/>
                    <a:lstStyle/>
                    <a:p>
                      <a:pPr marL="0" lvl="0" indent="0" algn="l">
                        <a:lnSpc>
                          <a:spcPts val="5250"/>
                        </a:lnSpc>
                        <a:buNone/>
                      </a:pPr>
                      <a:r>
                        <a:rPr lang="en-US" sz="3200" b="1" i="0" u="none" strike="noStrike" dirty="0">
                          <a:solidFill>
                            <a:srgbClr val="000000"/>
                          </a:solidFill>
                          <a:effectLst/>
                          <a:latin typeface="Aptos" panose="020B0004020202020204" pitchFamily="34" charset="0"/>
                        </a:rPr>
                        <a:t>Lack of Inclusive &amp; Dignified Campus Infrastructure: </a:t>
                      </a:r>
                      <a:r>
                        <a:rPr lang="en-US" sz="3200" b="0" i="0" u="none" strike="noStrike" dirty="0">
                          <a:solidFill>
                            <a:srgbClr val="000000"/>
                          </a:solidFill>
                          <a:effectLst/>
                          <a:latin typeface="Aptos" panose="020B0004020202020204" pitchFamily="34" charset="0"/>
                        </a:rPr>
                        <a:t>Key campus buildings like the Bharti Academic Block lack accessibility features like automatic doors, making independent entry difficult for wheelchair users. Additionally, inadequate infrastructure like missing dustbins and poorly planned rest areas for staff fails to support hygiene, and dignified working conditions.</a:t>
                      </a:r>
                    </a:p>
                  </a:txBody>
                  <a:tcPr marL="68580" marR="68580">
                    <a:lnL w="9524">
                      <a:solidFill>
                        <a:srgbClr val="000000"/>
                      </a:solidFill>
                    </a:lnL>
                    <a:lnR w="9524">
                      <a:solidFill>
                        <a:srgbClr val="000000"/>
                      </a:solidFill>
                    </a:lnR>
                    <a:lnB w="9524">
                      <a:solidFill>
                        <a:srgbClr val="000000"/>
                      </a:solidFill>
                    </a:lnB>
                    <a:noFill/>
                  </a:tcPr>
                </a:tc>
                <a:extLst>
                  <a:ext uri="{0D108BD9-81ED-4DB2-BD59-A6C34878D82A}">
                    <a16:rowId xmlns:a16="http://schemas.microsoft.com/office/drawing/2014/main" val="2043377524"/>
                  </a:ext>
                </a:extLst>
              </a:tr>
            </a:tbl>
          </a:graphicData>
        </a:graphic>
      </p:graphicFrame>
    </p:spTree>
    <p:extLst>
      <p:ext uri="{BB962C8B-B14F-4D97-AF65-F5344CB8AC3E}">
        <p14:creationId xmlns:p14="http://schemas.microsoft.com/office/powerpoint/2010/main" val="401691673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A6C026-A8FF-C6B4-DB83-1E762E385C7C}"/>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75C9A1D3-C5FB-A234-FE07-77E51D3DECFF}"/>
              </a:ext>
            </a:extLst>
          </p:cNvPr>
          <p:cNvSpPr/>
          <p:nvPr/>
        </p:nvSpPr>
        <p:spPr>
          <a:xfrm>
            <a:off x="1671068" y="1421108"/>
            <a:ext cx="21762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List the problem identified week- 5 </a:t>
            </a:r>
          </a:p>
          <a:p>
            <a:endParaRPr lang="en-US">
              <a:solidFill>
                <a:srgbClr val="000000"/>
              </a:solidFill>
            </a:endParaRPr>
          </a:p>
          <a:p>
            <a:endParaRPr lang="en-US"/>
          </a:p>
          <a:p>
            <a:endParaRPr lang="en-US"/>
          </a:p>
        </p:txBody>
      </p:sp>
      <p:graphicFrame>
        <p:nvGraphicFramePr>
          <p:cNvPr id="3" name="Table 2">
            <a:extLst>
              <a:ext uri="{FF2B5EF4-FFF2-40B4-BE49-F238E27FC236}">
                <a16:creationId xmlns:a16="http://schemas.microsoft.com/office/drawing/2014/main" id="{9F49F02B-7A05-A636-AF26-83577AE4BFFD}"/>
              </a:ext>
            </a:extLst>
          </p:cNvPr>
          <p:cNvGraphicFramePr>
            <a:graphicFrameLocks noGrp="1"/>
          </p:cNvGraphicFramePr>
          <p:nvPr>
            <p:extLst>
              <p:ext uri="{D42A27DB-BD31-4B8C-83A1-F6EECF244321}">
                <p14:modId xmlns:p14="http://schemas.microsoft.com/office/powerpoint/2010/main" val="2969798708"/>
              </p:ext>
            </p:extLst>
          </p:nvPr>
        </p:nvGraphicFramePr>
        <p:xfrm>
          <a:off x="2165791" y="3255593"/>
          <a:ext cx="18888755" cy="5507079"/>
        </p:xfrm>
        <a:graphic>
          <a:graphicData uri="http://schemas.openxmlformats.org/drawingml/2006/table">
            <a:tbl>
              <a:tblPr bandRow="1">
                <a:tableStyleId>{5940675A-B579-460E-94D1-54222C63F5DA}</a:tableStyleId>
              </a:tblPr>
              <a:tblGrid>
                <a:gridCol w="4995046">
                  <a:extLst>
                    <a:ext uri="{9D8B030D-6E8A-4147-A177-3AD203B41FA5}">
                      <a16:colId xmlns:a16="http://schemas.microsoft.com/office/drawing/2014/main" val="3917652687"/>
                    </a:ext>
                  </a:extLst>
                </a:gridCol>
                <a:gridCol w="13893709">
                  <a:extLst>
                    <a:ext uri="{9D8B030D-6E8A-4147-A177-3AD203B41FA5}">
                      <a16:colId xmlns:a16="http://schemas.microsoft.com/office/drawing/2014/main" val="81345911"/>
                    </a:ext>
                  </a:extLst>
                </a:gridCol>
              </a:tblGrid>
              <a:tr h="1114847">
                <a:tc>
                  <a:txBody>
                    <a:bodyPr/>
                    <a:lstStyle/>
                    <a:p>
                      <a:pPr lvl="0" algn="ctr">
                        <a:buNone/>
                      </a:pPr>
                      <a:r>
                        <a:rPr lang="en-US" sz="4800" b="1" i="0" u="none" strike="noStrike" cap="none" spc="0" baseline="0">
                          <a:ln>
                            <a:noFill/>
                          </a:ln>
                          <a:solidFill>
                            <a:schemeClr val="bg1"/>
                          </a:solidFill>
                          <a:uFillTx/>
                          <a:latin typeface="Arial"/>
                          <a:ea typeface="+mn-ea"/>
                          <a:cs typeface="+mn-cs"/>
                        </a:rPr>
                        <a:t>Zone</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bg1"/>
                          </a:solidFill>
                          <a:latin typeface="Arial"/>
                        </a:rPr>
                        <a:t>Problem Statement </a:t>
                      </a:r>
                    </a:p>
                  </a:txBody>
                  <a:tcPr anchor="ctr">
                    <a:solidFill>
                      <a:srgbClr val="008A8B"/>
                    </a:solidFill>
                  </a:tcPr>
                </a:tc>
                <a:extLst>
                  <a:ext uri="{0D108BD9-81ED-4DB2-BD59-A6C34878D82A}">
                    <a16:rowId xmlns:a16="http://schemas.microsoft.com/office/drawing/2014/main" val="2136606143"/>
                  </a:ext>
                </a:extLst>
              </a:tr>
              <a:tr h="945931">
                <a:tc>
                  <a:txBody>
                    <a:bodyPr/>
                    <a:lstStyle/>
                    <a:p>
                      <a:pPr algn="ctr" fontAlgn="base">
                        <a:lnSpc>
                          <a:spcPts val="5250"/>
                        </a:lnSpc>
                        <a:buNone/>
                      </a:pPr>
                      <a:r>
                        <a:rPr lang="en-US" sz="3600" b="1" i="0" u="none" strike="noStrike" dirty="0">
                          <a:solidFill>
                            <a:srgbClr val="000000"/>
                          </a:solidFill>
                          <a:effectLst/>
                          <a:latin typeface="Arial"/>
                        </a:rPr>
                        <a:t>Zone 2- Idea 1</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0" lvl="0" indent="0" algn="l">
                        <a:lnSpc>
                          <a:spcPts val="5250"/>
                        </a:lnSpc>
                        <a:buNone/>
                      </a:pPr>
                      <a:r>
                        <a:rPr lang="en-US" sz="3200" b="1" dirty="0"/>
                        <a:t>Makerspace Accessibility and Information Gap: </a:t>
                      </a:r>
                      <a:r>
                        <a:rPr lang="en-US" sz="3200" dirty="0"/>
                        <a:t>The Makerspace lacks a centralized and accessible information system. There is no dedicated platform where students can check the availability of materials, tools and machines. This creates confusion, reduces efficiency and limits effective utilization of Makerspace resources.</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4158352676"/>
                  </a:ext>
                </a:extLst>
              </a:tr>
              <a:tr h="990981">
                <a:tc>
                  <a:txBody>
                    <a:bodyPr/>
                    <a:lstStyle/>
                    <a:p>
                      <a:pPr lvl="0" algn="ctr">
                        <a:lnSpc>
                          <a:spcPts val="5250"/>
                        </a:lnSpc>
                        <a:buNone/>
                      </a:pPr>
                      <a:r>
                        <a:rPr lang="en-US" sz="3600" b="1" i="0" u="none" strike="noStrike" noProof="0" dirty="0">
                          <a:solidFill>
                            <a:srgbClr val="000000"/>
                          </a:solidFill>
                          <a:effectLst/>
                          <a:latin typeface="Arial"/>
                        </a:rPr>
                        <a:t>Zone 2- Idea 2</a:t>
                      </a:r>
                      <a:endParaRPr lang="en-US" dirty="0"/>
                    </a:p>
                  </a:txBody>
                  <a:tcPr marL="68580" marR="68580">
                    <a:lnL w="9524">
                      <a:solidFill>
                        <a:srgbClr val="000000"/>
                      </a:solidFill>
                    </a:lnL>
                    <a:lnR w="9524">
                      <a:solidFill>
                        <a:srgbClr val="000000"/>
                      </a:solidFill>
                    </a:lnR>
                    <a:lnB w="9524">
                      <a:solidFill>
                        <a:srgbClr val="000000"/>
                      </a:solidFill>
                    </a:lnB>
                    <a:noFill/>
                  </a:tcPr>
                </a:tc>
                <a:tc>
                  <a:txBody>
                    <a:bodyPr/>
                    <a:lstStyle/>
                    <a:p>
                      <a:pPr marL="0" lvl="0" indent="0" algn="l">
                        <a:lnSpc>
                          <a:spcPts val="5250"/>
                        </a:lnSpc>
                        <a:buNone/>
                      </a:pPr>
                      <a:r>
                        <a:rPr lang="en-US" sz="3200" b="0" i="0" u="none" strike="noStrike" dirty="0">
                          <a:solidFill>
                            <a:srgbClr val="000000"/>
                          </a:solidFill>
                          <a:effectLst/>
                          <a:latin typeface="+mn-lt"/>
                        </a:rPr>
                        <a:t>Professors Repository for Office Hours and Office Seating Arrangements</a:t>
                      </a:r>
                    </a:p>
                  </a:txBody>
                  <a:tcPr marL="68580" marR="68580">
                    <a:lnL w="9524">
                      <a:solidFill>
                        <a:srgbClr val="000000"/>
                      </a:solidFill>
                    </a:lnL>
                    <a:lnR w="9524">
                      <a:solidFill>
                        <a:srgbClr val="000000"/>
                      </a:solidFill>
                    </a:lnR>
                    <a:lnB w="9524">
                      <a:solidFill>
                        <a:srgbClr val="000000"/>
                      </a:solidFill>
                    </a:lnB>
                    <a:noFill/>
                  </a:tcPr>
                </a:tc>
                <a:extLst>
                  <a:ext uri="{0D108BD9-81ED-4DB2-BD59-A6C34878D82A}">
                    <a16:rowId xmlns:a16="http://schemas.microsoft.com/office/drawing/2014/main" val="2043377524"/>
                  </a:ext>
                </a:extLst>
              </a:tr>
            </a:tbl>
          </a:graphicData>
        </a:graphic>
      </p:graphicFrame>
    </p:spTree>
    <p:extLst>
      <p:ext uri="{BB962C8B-B14F-4D97-AF65-F5344CB8AC3E}">
        <p14:creationId xmlns:p14="http://schemas.microsoft.com/office/powerpoint/2010/main" val="1075480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F6A15C-0622-DCAB-153F-ADE28901610F}"/>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77BB4E0F-0C20-D82E-60F5-ACA118A1284D}"/>
              </a:ext>
            </a:extLst>
          </p:cNvPr>
          <p:cNvSpPr/>
          <p:nvPr/>
        </p:nvSpPr>
        <p:spPr>
          <a:xfrm>
            <a:off x="1671068" y="1421108"/>
            <a:ext cx="21762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Ranking your solutions using a Priority Matrix</a:t>
            </a:r>
          </a:p>
          <a:p>
            <a:endParaRPr lang="en-US">
              <a:solidFill>
                <a:srgbClr val="000000"/>
              </a:solidFill>
            </a:endParaRPr>
          </a:p>
          <a:p>
            <a:endParaRPr lang="en-US"/>
          </a:p>
          <a:p>
            <a:endParaRPr lang="en-US"/>
          </a:p>
        </p:txBody>
      </p:sp>
      <p:graphicFrame>
        <p:nvGraphicFramePr>
          <p:cNvPr id="3" name="Table 2">
            <a:extLst>
              <a:ext uri="{FF2B5EF4-FFF2-40B4-BE49-F238E27FC236}">
                <a16:creationId xmlns:a16="http://schemas.microsoft.com/office/drawing/2014/main" id="{7F993997-AA82-4584-9146-EE9DDBF224CE}"/>
              </a:ext>
            </a:extLst>
          </p:cNvPr>
          <p:cNvGraphicFramePr>
            <a:graphicFrameLocks noGrp="1"/>
          </p:cNvGraphicFramePr>
          <p:nvPr>
            <p:extLst>
              <p:ext uri="{D42A27DB-BD31-4B8C-83A1-F6EECF244321}">
                <p14:modId xmlns:p14="http://schemas.microsoft.com/office/powerpoint/2010/main" val="604779940"/>
              </p:ext>
            </p:extLst>
          </p:nvPr>
        </p:nvGraphicFramePr>
        <p:xfrm>
          <a:off x="1667773" y="3052823"/>
          <a:ext cx="21163440" cy="8987946"/>
        </p:xfrm>
        <a:graphic>
          <a:graphicData uri="http://schemas.openxmlformats.org/drawingml/2006/table">
            <a:tbl>
              <a:tblPr bandRow="1">
                <a:tableStyleId>{5940675A-B579-460E-94D1-54222C63F5DA}</a:tableStyleId>
              </a:tblPr>
              <a:tblGrid>
                <a:gridCol w="2773502">
                  <a:extLst>
                    <a:ext uri="{9D8B030D-6E8A-4147-A177-3AD203B41FA5}">
                      <a16:colId xmlns:a16="http://schemas.microsoft.com/office/drawing/2014/main" val="3917652687"/>
                    </a:ext>
                  </a:extLst>
                </a:gridCol>
                <a:gridCol w="6587733">
                  <a:extLst>
                    <a:ext uri="{9D8B030D-6E8A-4147-A177-3AD203B41FA5}">
                      <a16:colId xmlns:a16="http://schemas.microsoft.com/office/drawing/2014/main" val="81345911"/>
                    </a:ext>
                  </a:extLst>
                </a:gridCol>
                <a:gridCol w="5557783">
                  <a:extLst>
                    <a:ext uri="{9D8B030D-6E8A-4147-A177-3AD203B41FA5}">
                      <a16:colId xmlns:a16="http://schemas.microsoft.com/office/drawing/2014/main" val="544377941"/>
                    </a:ext>
                  </a:extLst>
                </a:gridCol>
                <a:gridCol w="3661997">
                  <a:extLst>
                    <a:ext uri="{9D8B030D-6E8A-4147-A177-3AD203B41FA5}">
                      <a16:colId xmlns:a16="http://schemas.microsoft.com/office/drawing/2014/main" val="1374285997"/>
                    </a:ext>
                  </a:extLst>
                </a:gridCol>
                <a:gridCol w="2582425">
                  <a:extLst>
                    <a:ext uri="{9D8B030D-6E8A-4147-A177-3AD203B41FA5}">
                      <a16:colId xmlns:a16="http://schemas.microsoft.com/office/drawing/2014/main" val="3450956232"/>
                    </a:ext>
                  </a:extLst>
                </a:gridCol>
              </a:tblGrid>
              <a:tr h="1380924">
                <a:tc>
                  <a:txBody>
                    <a:bodyPr/>
                    <a:lstStyle/>
                    <a:p>
                      <a:pPr lvl="0" algn="ctr">
                        <a:buNone/>
                      </a:pPr>
                      <a:r>
                        <a:rPr lang="en-US" sz="4800" b="1" i="0" u="none" strike="noStrike" cap="none" spc="0" baseline="0">
                          <a:ln>
                            <a:noFill/>
                          </a:ln>
                          <a:solidFill>
                            <a:schemeClr val="bg1"/>
                          </a:solidFill>
                          <a:uFillTx/>
                          <a:latin typeface="Arial"/>
                          <a:ea typeface="+mn-ea"/>
                          <a:cs typeface="+mn-cs"/>
                        </a:rPr>
                        <a:t>Idea</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bg1"/>
                          </a:solidFill>
                          <a:latin typeface="Arial"/>
                        </a:rPr>
                        <a:t>Ease of implementation</a:t>
                      </a:r>
                    </a:p>
                  </a:txBody>
                  <a:tcPr anchor="ctr">
                    <a:solidFill>
                      <a:srgbClr val="008A8B"/>
                    </a:solidFill>
                  </a:tcPr>
                </a:tc>
                <a:tc>
                  <a:txBody>
                    <a:bodyPr/>
                    <a:lstStyle/>
                    <a:p>
                      <a:pPr lvl="0" algn="ctr">
                        <a:buNone/>
                      </a:pPr>
                      <a:r>
                        <a:rPr lang="en-US" sz="4800" b="1">
                          <a:solidFill>
                            <a:schemeClr val="bg1"/>
                          </a:solidFill>
                          <a:latin typeface="Arial"/>
                        </a:rPr>
                        <a:t>Feasibility </a:t>
                      </a:r>
                    </a:p>
                  </a:txBody>
                  <a:tcPr anchor="ctr">
                    <a:solidFill>
                      <a:srgbClr val="008A8B"/>
                    </a:solidFill>
                  </a:tcPr>
                </a:tc>
                <a:tc>
                  <a:txBody>
                    <a:bodyPr/>
                    <a:lstStyle/>
                    <a:p>
                      <a:pPr lvl="0" algn="ctr">
                        <a:buNone/>
                      </a:pPr>
                      <a:r>
                        <a:rPr lang="en-US" sz="4800" b="1" baseline="0">
                          <a:solidFill>
                            <a:schemeClr val="bg1"/>
                          </a:solidFill>
                          <a:latin typeface="Arial"/>
                        </a:rPr>
                        <a:t>Cost</a:t>
                      </a:r>
                      <a:endParaRPr lang="en-US"/>
                    </a:p>
                  </a:txBody>
                  <a:tcPr anchor="ctr">
                    <a:solidFill>
                      <a:srgbClr val="008A8B"/>
                    </a:solidFill>
                  </a:tcPr>
                </a:tc>
                <a:tc>
                  <a:txBody>
                    <a:bodyPr/>
                    <a:lstStyle/>
                    <a:p>
                      <a:pPr lvl="0" algn="ctr">
                        <a:buNone/>
                      </a:pPr>
                      <a:r>
                        <a:rPr lang="en-US" sz="4800" b="1" baseline="0">
                          <a:solidFill>
                            <a:schemeClr val="bg1"/>
                          </a:solidFill>
                          <a:latin typeface="Arial"/>
                        </a:rPr>
                        <a:t>Total score</a:t>
                      </a:r>
                    </a:p>
                  </a:txBody>
                  <a:tcPr anchor="ctr">
                    <a:solidFill>
                      <a:srgbClr val="008A8B"/>
                    </a:solidFill>
                  </a:tcPr>
                </a:tc>
                <a:extLst>
                  <a:ext uri="{0D108BD9-81ED-4DB2-BD59-A6C34878D82A}">
                    <a16:rowId xmlns:a16="http://schemas.microsoft.com/office/drawing/2014/main" val="2136606143"/>
                  </a:ext>
                </a:extLst>
              </a:tr>
              <a:tr h="6463884">
                <a:tc>
                  <a:txBody>
                    <a:bodyPr/>
                    <a:lstStyle/>
                    <a:p>
                      <a:pPr algn="ctr" fontAlgn="base">
                        <a:lnSpc>
                          <a:spcPts val="5250"/>
                        </a:lnSpc>
                        <a:buNone/>
                      </a:pPr>
                      <a:r>
                        <a:rPr lang="en-US" sz="3600" b="1" i="0" u="none" strike="noStrike">
                          <a:solidFill>
                            <a:srgbClr val="000000"/>
                          </a:solidFill>
                          <a:effectLst/>
                          <a:latin typeface="Arial"/>
                        </a:rPr>
                        <a:t>Idea 1</a:t>
                      </a:r>
                      <a:br>
                        <a:rPr lang="en-US" sz="3200" b="1" i="0" u="none" strike="noStrike">
                          <a:solidFill>
                            <a:srgbClr val="000000"/>
                          </a:solidFill>
                          <a:effectLst/>
                          <a:latin typeface="Arial"/>
                        </a:rPr>
                      </a:br>
                      <a:r>
                        <a:rPr lang="en-US" sz="3200" b="0" i="0" u="none" strike="noStrike">
                          <a:solidFill>
                            <a:srgbClr val="000000"/>
                          </a:solidFill>
                          <a:effectLst/>
                          <a:latin typeface="Arial"/>
                        </a:rPr>
                        <a:t>(Briefly state  the problem identified </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lgn="l" fontAlgn="base">
                        <a:lnSpc>
                          <a:spcPts val="5250"/>
                        </a:lnSpc>
                        <a:buFont typeface="Arial"/>
                        <a:buChar char="•"/>
                      </a:pPr>
                      <a:r>
                        <a:rPr lang="en-US" sz="3200" b="0" i="0" u="none" strike="noStrike" noProof="0">
                          <a:solidFill>
                            <a:srgbClr val="000000"/>
                          </a:solidFill>
                          <a:effectLst/>
                          <a:latin typeface="Arial"/>
                        </a:rPr>
                        <a:t>Solution </a:t>
                      </a:r>
                      <a:r>
                        <a:rPr lang="en-US" sz="3200"/>
                        <a:t>implementable  in your location/zone within the said boundary conditions?</a:t>
                      </a:r>
                    </a:p>
                    <a:p>
                      <a:pPr marL="457200" lvl="0" indent="-457200" algn="l">
                        <a:lnSpc>
                          <a:spcPts val="5250"/>
                        </a:lnSpc>
                        <a:buFont typeface="Arial"/>
                        <a:buChar char="•"/>
                      </a:pPr>
                      <a:r>
                        <a:rPr lang="en-US" sz="3200"/>
                        <a:t>Required resourc</a:t>
                      </a:r>
                      <a:r>
                        <a:rPr lang="en-US" sz="3200" b="0" i="0" u="none" strike="noStrike" noProof="0">
                          <a:solidFill>
                            <a:srgbClr val="000000"/>
                          </a:solidFill>
                          <a:effectLst/>
                          <a:latin typeface="Arial"/>
                        </a:rPr>
                        <a:t>es available? </a:t>
                      </a:r>
                      <a:endParaRPr lang="en-US" sz="3200"/>
                    </a:p>
                    <a:p>
                      <a:pPr marL="457200" lvl="0" indent="-457200" algn="l">
                        <a:lnSpc>
                          <a:spcPts val="5250"/>
                        </a:lnSpc>
                        <a:buFont typeface="Arial"/>
                        <a:buChar char="•"/>
                      </a:pPr>
                      <a:r>
                        <a:rPr lang="en-US" sz="3200" b="0" i="0" u="none" strike="noStrike">
                          <a:solidFill>
                            <a:srgbClr val="000000"/>
                          </a:solidFill>
                          <a:effectLst/>
                          <a:latin typeface="Arial"/>
                        </a:rPr>
                        <a:t>How likely is it, that the solution will be accepted by the users?</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0" lvl="0" indent="0" algn="l" defTabSz="1828800" rtl="0" eaLnBrk="1" fontAlgn="base" latinLnBrk="0" hangingPunct="1">
                        <a:lnSpc>
                          <a:spcPts val="5250"/>
                        </a:lnSpc>
                        <a:buNone/>
                      </a:pPr>
                      <a:r>
                        <a:rPr lang="en-US" sz="3200" b="0" i="0" u="none" strike="noStrike" kern="1200" noProof="0">
                          <a:solidFill>
                            <a:srgbClr val="000000"/>
                          </a:solidFill>
                          <a:effectLst/>
                          <a:latin typeface="Arial"/>
                          <a:ea typeface="+mn-ea"/>
                          <a:cs typeface="+mn-cs"/>
                        </a:rPr>
                        <a:t>Does your identified problem:</a:t>
                      </a:r>
                    </a:p>
                    <a:p>
                      <a:pPr marL="457200" lvl="0" indent="-457200" algn="l" defTabSz="1828800" rtl="0" eaLnBrk="1" fontAlgn="base" latinLnBrk="0" hangingPunct="1">
                        <a:lnSpc>
                          <a:spcPts val="5250"/>
                        </a:lnSpc>
                        <a:buFont typeface="Arial"/>
                        <a:buChar char="•"/>
                      </a:pPr>
                      <a:r>
                        <a:rPr lang="en-US" sz="3200" b="0" i="0" u="none" strike="noStrike" kern="1200" noProof="0">
                          <a:solidFill>
                            <a:srgbClr val="000000"/>
                          </a:solidFill>
                          <a:effectLst/>
                          <a:latin typeface="Arial"/>
                          <a:ea typeface="+mn-ea"/>
                          <a:cs typeface="+mn-cs"/>
                        </a:rPr>
                        <a:t>Solve the pain points (most glaring gaps)</a:t>
                      </a:r>
                    </a:p>
                    <a:p>
                      <a:pPr marL="457200" lvl="0" indent="-457200" algn="l" defTabSz="1828800" rtl="0" eaLnBrk="1" fontAlgn="base" latinLnBrk="0" hangingPunct="1">
                        <a:lnSpc>
                          <a:spcPts val="5250"/>
                        </a:lnSpc>
                        <a:buFont typeface="Arial"/>
                        <a:buChar char="•"/>
                      </a:pPr>
                      <a:r>
                        <a:rPr lang="en-US" sz="3200" b="0" i="0" u="none" strike="noStrike" kern="1200" noProof="0">
                          <a:solidFill>
                            <a:srgbClr val="000000"/>
                          </a:solidFill>
                          <a:effectLst/>
                          <a:latin typeface="Arial"/>
                          <a:ea typeface="+mn-ea"/>
                          <a:cs typeface="+mn-cs"/>
                        </a:rPr>
                        <a:t>Improve what exists now (areas where you can add value)</a:t>
                      </a:r>
                    </a:p>
                    <a:p>
                      <a:pPr marL="457200" lvl="0" indent="-457200" algn="l" defTabSz="1828800" rtl="0" eaLnBrk="1" fontAlgn="base" latinLnBrk="0" hangingPunct="1">
                        <a:lnSpc>
                          <a:spcPts val="5250"/>
                        </a:lnSpc>
                        <a:buFont typeface="Arial"/>
                        <a:buChar char="•"/>
                      </a:pPr>
                      <a:r>
                        <a:rPr lang="en-US" sz="3200" b="0" i="0" u="none" strike="noStrike" kern="1200" noProof="0">
                          <a:solidFill>
                            <a:srgbClr val="000000"/>
                          </a:solidFill>
                          <a:effectLst/>
                          <a:latin typeface="Arial"/>
                          <a:ea typeface="+mn-ea"/>
                          <a:cs typeface="+mn-cs"/>
                        </a:rPr>
                        <a:t>Add some new features to the campus life</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lgn="l" fontAlgn="base">
                        <a:lnSpc>
                          <a:spcPts val="5250"/>
                        </a:lnSpc>
                        <a:buFont typeface="Arial"/>
                        <a:buChar char="•"/>
                      </a:pPr>
                      <a:r>
                        <a:rPr lang="en-US" sz="3200" b="0" i="0" u="none" strike="noStrike">
                          <a:solidFill>
                            <a:srgbClr val="000000"/>
                          </a:solidFill>
                          <a:effectLst/>
                          <a:latin typeface="Arial"/>
                        </a:rPr>
                        <a:t>How cost  intensive is  the solution?</a:t>
                      </a:r>
                      <a:endParaRPr lang="en-US" sz="3200" b="0" i="0">
                        <a:solidFill>
                          <a:srgbClr val="000000"/>
                        </a:solidFill>
                        <a:effectLst/>
                        <a:latin typeface="Arial"/>
                      </a:endParaRPr>
                    </a:p>
                    <a:p>
                      <a:pPr marL="457200" lvl="0" indent="-457200" algn="l">
                        <a:lnSpc>
                          <a:spcPts val="5250"/>
                        </a:lnSpc>
                        <a:buFont typeface="Arial"/>
                        <a:buChar char="•"/>
                      </a:pPr>
                      <a:endParaRPr lang="en-US" sz="3200" b="0" i="0" u="none" strike="noStrike">
                        <a:solidFill>
                          <a:srgbClr val="000000"/>
                        </a:solidFill>
                        <a:effectLst/>
                        <a:latin typeface="Arial"/>
                      </a:endParaRPr>
                    </a:p>
                    <a:p>
                      <a:pPr marL="457200" lvl="0" indent="-457200" algn="l">
                        <a:lnSpc>
                          <a:spcPts val="5250"/>
                        </a:lnSpc>
                        <a:buFont typeface="Arial"/>
                        <a:buChar char="•"/>
                      </a:pPr>
                      <a:r>
                        <a:rPr lang="en-US" sz="3200" b="0" i="0" u="none" strike="noStrike">
                          <a:solidFill>
                            <a:srgbClr val="000000"/>
                          </a:solidFill>
                          <a:effectLst/>
                          <a:latin typeface="Arial"/>
                        </a:rPr>
                        <a:t>A rough estimate of the prototype</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lvl="0" algn="l">
                        <a:lnSpc>
                          <a:spcPts val="5250"/>
                        </a:lnSpc>
                        <a:buNone/>
                      </a:pPr>
                      <a:endParaRPr lang="en-US" sz="3200" b="0" i="0" u="none" strike="noStrike">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4">
                      <a:solidFill>
                        <a:srgbClr val="000000"/>
                      </a:solidFill>
                    </a:lnR>
                    <a:noFill/>
                  </a:tcPr>
                </a:tc>
                <a:extLst>
                  <a:ext uri="{0D108BD9-81ED-4DB2-BD59-A6C34878D82A}">
                    <a16:rowId xmlns:a16="http://schemas.microsoft.com/office/drawing/2014/main" val="4158352676"/>
                  </a:ext>
                </a:extLst>
              </a:tr>
              <a:tr h="969582">
                <a:tc>
                  <a:txBody>
                    <a:bodyPr/>
                    <a:lstStyle/>
                    <a:p>
                      <a:pPr lvl="0" algn="ctr">
                        <a:lnSpc>
                          <a:spcPts val="5250"/>
                        </a:lnSpc>
                        <a:buNone/>
                      </a:pPr>
                      <a:r>
                        <a:rPr lang="en-US" sz="3600" b="1" i="0" u="none" strike="noStrike">
                          <a:solidFill>
                            <a:srgbClr val="000000"/>
                          </a:solidFill>
                          <a:effectLst/>
                          <a:latin typeface="Arial"/>
                        </a:rPr>
                        <a:t>Idea 2</a:t>
                      </a:r>
                    </a:p>
                  </a:txBody>
                  <a:tcPr marL="68580" marR="68580">
                    <a:lnL w="9524">
                      <a:solidFill>
                        <a:srgbClr val="000000"/>
                      </a:solidFill>
                    </a:lnL>
                    <a:lnR w="9524">
                      <a:solidFill>
                        <a:srgbClr val="000000"/>
                      </a:solidFill>
                    </a:lnR>
                    <a:lnB w="9524">
                      <a:solidFill>
                        <a:srgbClr val="000000"/>
                      </a:solidFill>
                    </a:lnB>
                    <a:noFill/>
                  </a:tcPr>
                </a:tc>
                <a:tc>
                  <a:txBody>
                    <a:bodyPr/>
                    <a:lstStyle/>
                    <a:p>
                      <a:pPr marL="0" lvl="0" indent="0" algn="l">
                        <a:lnSpc>
                          <a:spcPts val="5250"/>
                        </a:lnSpc>
                        <a:buNone/>
                      </a:pPr>
                      <a:r>
                        <a:rPr lang="en-US" sz="3600" b="0" i="0" u="none" strike="noStrike">
                          <a:solidFill>
                            <a:srgbClr val="000000"/>
                          </a:solidFill>
                          <a:effectLst/>
                          <a:latin typeface="Arial"/>
                        </a:rPr>
                        <a:t>3</a:t>
                      </a: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r>
                        <a:rPr lang="en-US" sz="3600" b="0" i="0" u="none" strike="noStrike">
                          <a:solidFill>
                            <a:srgbClr val="000000"/>
                          </a:solidFill>
                          <a:effectLst/>
                          <a:latin typeface="Arial"/>
                        </a:rPr>
                        <a:t>4</a:t>
                      </a: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r>
                        <a:rPr lang="en-US" sz="3600" b="0" i="0" u="none" strike="noStrike">
                          <a:solidFill>
                            <a:srgbClr val="000000"/>
                          </a:solidFill>
                          <a:effectLst/>
                          <a:latin typeface="Arial"/>
                        </a:rPr>
                        <a:t>2</a:t>
                      </a: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r>
                        <a:rPr lang="en-US" sz="3600" b="0" i="0" u="none" strike="noStrike">
                          <a:solidFill>
                            <a:srgbClr val="000000"/>
                          </a:solidFill>
                          <a:effectLst/>
                          <a:latin typeface="Arial"/>
                        </a:rPr>
                        <a:t>9</a:t>
                      </a:r>
                    </a:p>
                  </a:txBody>
                  <a:tcPr marL="68580" marR="68580">
                    <a:lnL w="9524">
                      <a:solidFill>
                        <a:srgbClr val="000000"/>
                      </a:solidFill>
                    </a:lnL>
                    <a:lnR w="9524">
                      <a:solidFill>
                        <a:srgbClr val="000000"/>
                      </a:solidFill>
                    </a:lnR>
                    <a:lnB w="9524">
                      <a:solidFill>
                        <a:srgbClr val="000000"/>
                      </a:solidFill>
                    </a:lnB>
                    <a:noFill/>
                  </a:tcPr>
                </a:tc>
                <a:extLst>
                  <a:ext uri="{0D108BD9-81ED-4DB2-BD59-A6C34878D82A}">
                    <a16:rowId xmlns:a16="http://schemas.microsoft.com/office/drawing/2014/main" val="2043377524"/>
                  </a:ext>
                </a:extLst>
              </a:tr>
            </a:tbl>
          </a:graphicData>
        </a:graphic>
      </p:graphicFrame>
      <p:sp>
        <p:nvSpPr>
          <p:cNvPr id="4" name="TextBox 3">
            <a:extLst>
              <a:ext uri="{FF2B5EF4-FFF2-40B4-BE49-F238E27FC236}">
                <a16:creationId xmlns:a16="http://schemas.microsoft.com/office/drawing/2014/main" id="{AFBC1435-7DD1-B0D1-1887-B595E2910A30}"/>
              </a:ext>
            </a:extLst>
          </p:cNvPr>
          <p:cNvSpPr txBox="1"/>
          <p:nvPr/>
        </p:nvSpPr>
        <p:spPr>
          <a:xfrm>
            <a:off x="1670591" y="12660026"/>
            <a:ext cx="21730705"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4000">
                <a:latin typeface="Arial"/>
                <a:cs typeface="Arial"/>
              </a:rPr>
              <a:t> </a:t>
            </a:r>
            <a:r>
              <a:rPr lang="en-US" sz="3600" b="1">
                <a:latin typeface="Arial"/>
                <a:cs typeface="Arial"/>
              </a:rPr>
              <a:t>Rate each of the parameters from 1 to 5.  1= Lowest and 5= Highest</a:t>
            </a:r>
            <a:endParaRPr lang="en-US" sz="3600" b="1">
              <a:latin typeface="Aptos" panose="02110004020202020204"/>
              <a:cs typeface="Arial"/>
            </a:endParaRPr>
          </a:p>
        </p:txBody>
      </p:sp>
    </p:spTree>
    <p:extLst>
      <p:ext uri="{BB962C8B-B14F-4D97-AF65-F5344CB8AC3E}">
        <p14:creationId xmlns:p14="http://schemas.microsoft.com/office/powerpoint/2010/main" val="14035950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9CAD96-3BB5-CCCE-9B31-734F85C25BF2}"/>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0EECD726-D443-4501-172A-94964038AC6B}"/>
              </a:ext>
            </a:extLst>
          </p:cNvPr>
          <p:cNvSpPr/>
          <p:nvPr/>
        </p:nvSpPr>
        <p:spPr>
          <a:xfrm>
            <a:off x="1654872" y="837628"/>
            <a:ext cx="21762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dirty="0"/>
              <a:t>Ranking your solutions using a Priority Matrix</a:t>
            </a:r>
          </a:p>
          <a:p>
            <a:endParaRPr lang="en-US" dirty="0">
              <a:solidFill>
                <a:srgbClr val="000000"/>
              </a:solidFill>
            </a:endParaRPr>
          </a:p>
          <a:p>
            <a:endParaRPr lang="en-US" dirty="0"/>
          </a:p>
          <a:p>
            <a:endParaRPr lang="en-US" dirty="0"/>
          </a:p>
        </p:txBody>
      </p:sp>
      <p:graphicFrame>
        <p:nvGraphicFramePr>
          <p:cNvPr id="3" name="Table 2">
            <a:extLst>
              <a:ext uri="{FF2B5EF4-FFF2-40B4-BE49-F238E27FC236}">
                <a16:creationId xmlns:a16="http://schemas.microsoft.com/office/drawing/2014/main" id="{1B93D1E4-4736-0D81-22F9-E2BBFEC33A13}"/>
              </a:ext>
            </a:extLst>
          </p:cNvPr>
          <p:cNvGraphicFramePr>
            <a:graphicFrameLocks noGrp="1"/>
          </p:cNvGraphicFramePr>
          <p:nvPr>
            <p:extLst>
              <p:ext uri="{D42A27DB-BD31-4B8C-83A1-F6EECF244321}">
                <p14:modId xmlns:p14="http://schemas.microsoft.com/office/powerpoint/2010/main" val="2343109968"/>
              </p:ext>
            </p:extLst>
          </p:nvPr>
        </p:nvGraphicFramePr>
        <p:xfrm>
          <a:off x="1654872" y="2461622"/>
          <a:ext cx="21163440" cy="9976358"/>
        </p:xfrm>
        <a:graphic>
          <a:graphicData uri="http://schemas.openxmlformats.org/drawingml/2006/table">
            <a:tbl>
              <a:tblPr bandRow="1">
                <a:tableStyleId>{5940675A-B579-460E-94D1-54222C63F5DA}</a:tableStyleId>
              </a:tblPr>
              <a:tblGrid>
                <a:gridCol w="2773502">
                  <a:extLst>
                    <a:ext uri="{9D8B030D-6E8A-4147-A177-3AD203B41FA5}">
                      <a16:colId xmlns:a16="http://schemas.microsoft.com/office/drawing/2014/main" val="3917652687"/>
                    </a:ext>
                  </a:extLst>
                </a:gridCol>
                <a:gridCol w="6587733">
                  <a:extLst>
                    <a:ext uri="{9D8B030D-6E8A-4147-A177-3AD203B41FA5}">
                      <a16:colId xmlns:a16="http://schemas.microsoft.com/office/drawing/2014/main" val="81345911"/>
                    </a:ext>
                  </a:extLst>
                </a:gridCol>
                <a:gridCol w="5171434">
                  <a:extLst>
                    <a:ext uri="{9D8B030D-6E8A-4147-A177-3AD203B41FA5}">
                      <a16:colId xmlns:a16="http://schemas.microsoft.com/office/drawing/2014/main" val="544377941"/>
                    </a:ext>
                  </a:extLst>
                </a:gridCol>
                <a:gridCol w="4048346">
                  <a:extLst>
                    <a:ext uri="{9D8B030D-6E8A-4147-A177-3AD203B41FA5}">
                      <a16:colId xmlns:a16="http://schemas.microsoft.com/office/drawing/2014/main" val="1374285997"/>
                    </a:ext>
                  </a:extLst>
                </a:gridCol>
                <a:gridCol w="2582425">
                  <a:extLst>
                    <a:ext uri="{9D8B030D-6E8A-4147-A177-3AD203B41FA5}">
                      <a16:colId xmlns:a16="http://schemas.microsoft.com/office/drawing/2014/main" val="3450956232"/>
                    </a:ext>
                  </a:extLst>
                </a:gridCol>
              </a:tblGrid>
              <a:tr h="1380924">
                <a:tc>
                  <a:txBody>
                    <a:bodyPr/>
                    <a:lstStyle/>
                    <a:p>
                      <a:pPr lvl="0" algn="ctr">
                        <a:buNone/>
                      </a:pPr>
                      <a:r>
                        <a:rPr lang="en-US" sz="4800" b="1" i="0" u="none" strike="noStrike" cap="none" spc="0" baseline="0">
                          <a:ln>
                            <a:noFill/>
                          </a:ln>
                          <a:solidFill>
                            <a:schemeClr val="bg1"/>
                          </a:solidFill>
                          <a:uFillTx/>
                          <a:latin typeface="Arial"/>
                          <a:ea typeface="+mn-ea"/>
                          <a:cs typeface="+mn-cs"/>
                        </a:rPr>
                        <a:t>Idea</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bg1"/>
                          </a:solidFill>
                          <a:latin typeface="Arial"/>
                        </a:rPr>
                        <a:t>Ease of implementation</a:t>
                      </a:r>
                    </a:p>
                  </a:txBody>
                  <a:tcPr anchor="ctr">
                    <a:solidFill>
                      <a:srgbClr val="008A8B"/>
                    </a:solidFill>
                  </a:tcPr>
                </a:tc>
                <a:tc>
                  <a:txBody>
                    <a:bodyPr/>
                    <a:lstStyle/>
                    <a:p>
                      <a:pPr lvl="0" algn="ctr">
                        <a:buNone/>
                      </a:pPr>
                      <a:r>
                        <a:rPr lang="en-US" sz="4800" b="1">
                          <a:solidFill>
                            <a:schemeClr val="bg1"/>
                          </a:solidFill>
                          <a:latin typeface="Arial"/>
                        </a:rPr>
                        <a:t>Feasibility </a:t>
                      </a:r>
                    </a:p>
                  </a:txBody>
                  <a:tcPr anchor="ctr">
                    <a:solidFill>
                      <a:srgbClr val="008A8B"/>
                    </a:solidFill>
                  </a:tcPr>
                </a:tc>
                <a:tc>
                  <a:txBody>
                    <a:bodyPr/>
                    <a:lstStyle/>
                    <a:p>
                      <a:pPr lvl="0" algn="ctr">
                        <a:buNone/>
                      </a:pPr>
                      <a:r>
                        <a:rPr lang="en-US" sz="4800" b="1" baseline="0">
                          <a:solidFill>
                            <a:schemeClr val="bg1"/>
                          </a:solidFill>
                          <a:latin typeface="Arial"/>
                        </a:rPr>
                        <a:t>Cost</a:t>
                      </a:r>
                      <a:endParaRPr lang="en-US"/>
                    </a:p>
                  </a:txBody>
                  <a:tcPr anchor="ctr">
                    <a:solidFill>
                      <a:srgbClr val="008A8B"/>
                    </a:solidFill>
                  </a:tcPr>
                </a:tc>
                <a:tc>
                  <a:txBody>
                    <a:bodyPr/>
                    <a:lstStyle/>
                    <a:p>
                      <a:pPr lvl="0" algn="ctr">
                        <a:buNone/>
                      </a:pPr>
                      <a:r>
                        <a:rPr lang="en-US" sz="4800" b="1" baseline="0">
                          <a:solidFill>
                            <a:schemeClr val="bg1"/>
                          </a:solidFill>
                          <a:latin typeface="Arial"/>
                        </a:rPr>
                        <a:t>Total score</a:t>
                      </a:r>
                    </a:p>
                  </a:txBody>
                  <a:tcPr anchor="ctr">
                    <a:solidFill>
                      <a:srgbClr val="008A8B"/>
                    </a:solidFill>
                  </a:tcPr>
                </a:tc>
                <a:extLst>
                  <a:ext uri="{0D108BD9-81ED-4DB2-BD59-A6C34878D82A}">
                    <a16:rowId xmlns:a16="http://schemas.microsoft.com/office/drawing/2014/main" val="2136606143"/>
                  </a:ext>
                </a:extLst>
              </a:tr>
              <a:tr h="1790512">
                <a:tc>
                  <a:txBody>
                    <a:bodyPr/>
                    <a:lstStyle/>
                    <a:p>
                      <a:pPr algn="ctr" fontAlgn="base">
                        <a:lnSpc>
                          <a:spcPct val="100000"/>
                        </a:lnSpc>
                        <a:buNone/>
                      </a:pPr>
                      <a:r>
                        <a:rPr lang="en-US" sz="3600" b="1" i="0" u="none" strike="noStrike" dirty="0">
                          <a:solidFill>
                            <a:srgbClr val="000000"/>
                          </a:solidFill>
                          <a:effectLst/>
                          <a:latin typeface="Arial"/>
                        </a:rPr>
                        <a:t>Idea 1</a:t>
                      </a:r>
                      <a:br>
                        <a:rPr lang="en-US" sz="3200" b="1" i="0" u="none" strike="noStrike" dirty="0">
                          <a:solidFill>
                            <a:srgbClr val="000000"/>
                          </a:solidFill>
                          <a:effectLst/>
                          <a:latin typeface="Arial"/>
                        </a:rPr>
                      </a:br>
                      <a:r>
                        <a:rPr lang="en-US" sz="2800" b="0" i="0" u="none" strike="noStrike" dirty="0">
                          <a:solidFill>
                            <a:srgbClr val="000000"/>
                          </a:solidFill>
                          <a:effectLst/>
                          <a:latin typeface="Arial"/>
                        </a:rPr>
                        <a:t>Inefficient lost-and-found management</a:t>
                      </a:r>
                      <a:endParaRPr lang="en-US" sz="3200" b="0"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lgn="l" fontAlgn="base">
                        <a:lnSpc>
                          <a:spcPts val="5250"/>
                        </a:lnSpc>
                        <a:buFont typeface="Arial"/>
                        <a:buChar char="•"/>
                      </a:pPr>
                      <a:r>
                        <a:rPr lang="en-US" sz="3200" dirty="0"/>
                        <a:t>3</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0" lvl="0" indent="0" algn="l" defTabSz="1828800" rtl="0" eaLnBrk="1" fontAlgn="base" latinLnBrk="0" hangingPunct="1">
                        <a:lnSpc>
                          <a:spcPts val="5250"/>
                        </a:lnSpc>
                        <a:buNone/>
                      </a:pPr>
                      <a:r>
                        <a:rPr lang="en-US" sz="3200" b="0" i="0" u="none" strike="noStrike" kern="1200" noProof="0" dirty="0">
                          <a:solidFill>
                            <a:srgbClr val="000000"/>
                          </a:solidFill>
                          <a:effectLst/>
                          <a:latin typeface="Arial"/>
                          <a:ea typeface="+mn-ea"/>
                          <a:cs typeface="+mn-cs"/>
                        </a:rPr>
                        <a:t>5</a:t>
                      </a:r>
                    </a:p>
                    <a:p>
                      <a:pPr lvl="0" algn="l">
                        <a:lnSpc>
                          <a:spcPts val="5250"/>
                        </a:lnSpc>
                        <a:buNone/>
                      </a:pPr>
                      <a:endParaRPr lang="en-US" sz="3200" b="0"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lgn="l" fontAlgn="base">
                        <a:lnSpc>
                          <a:spcPts val="5250"/>
                        </a:lnSpc>
                        <a:buFont typeface="Arial"/>
                        <a:buChar char="•"/>
                      </a:pPr>
                      <a:r>
                        <a:rPr lang="en-US" sz="3200" b="0" i="0" u="none" strike="noStrike" dirty="0">
                          <a:solidFill>
                            <a:srgbClr val="000000"/>
                          </a:solidFill>
                          <a:effectLst/>
                          <a:latin typeface="Arial"/>
                        </a:rPr>
                        <a:t>5</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lvl="0" algn="l">
                        <a:lnSpc>
                          <a:spcPts val="5250"/>
                        </a:lnSpc>
                        <a:buNone/>
                      </a:pPr>
                      <a:r>
                        <a:rPr lang="en-US" sz="3200" b="0" i="0" u="none" strike="noStrike" dirty="0">
                          <a:solidFill>
                            <a:srgbClr val="000000"/>
                          </a:solidFill>
                          <a:effectLst/>
                          <a:latin typeface="Arial"/>
                        </a:rPr>
                        <a:t>13</a:t>
                      </a:r>
                    </a:p>
                  </a:txBody>
                  <a:tcPr marL="68580" marR="68580">
                    <a:lnL w="9525" cap="flat" cmpd="sng" algn="ctr">
                      <a:solidFill>
                        <a:srgbClr val="000000"/>
                      </a:solidFill>
                      <a:prstDash val="solid"/>
                      <a:round/>
                      <a:headEnd type="none" w="med" len="med"/>
                      <a:tailEnd type="none" w="med" len="med"/>
                    </a:lnL>
                    <a:lnR w="9524">
                      <a:solidFill>
                        <a:srgbClr val="000000"/>
                      </a:solidFill>
                    </a:lnR>
                    <a:noFill/>
                  </a:tcPr>
                </a:tc>
                <a:extLst>
                  <a:ext uri="{0D108BD9-81ED-4DB2-BD59-A6C34878D82A}">
                    <a16:rowId xmlns:a16="http://schemas.microsoft.com/office/drawing/2014/main" val="4158352676"/>
                  </a:ext>
                </a:extLst>
              </a:tr>
              <a:tr h="2074865">
                <a:tc>
                  <a:txBody>
                    <a:bodyPr/>
                    <a:lstStyle/>
                    <a:p>
                      <a:pPr lvl="0" algn="ctr">
                        <a:lnSpc>
                          <a:spcPts val="5250"/>
                        </a:lnSpc>
                        <a:buNone/>
                      </a:pPr>
                      <a:r>
                        <a:rPr lang="en-US" sz="3600" b="1" i="0" u="none" strike="noStrike" dirty="0">
                          <a:solidFill>
                            <a:srgbClr val="000000"/>
                          </a:solidFill>
                          <a:effectLst/>
                          <a:latin typeface="Arial"/>
                        </a:rPr>
                        <a:t>Idea 2</a:t>
                      </a:r>
                    </a:p>
                    <a:p>
                      <a:pPr lvl="0" algn="ctr">
                        <a:lnSpc>
                          <a:spcPct val="100000"/>
                        </a:lnSpc>
                        <a:buNone/>
                      </a:pPr>
                      <a:r>
                        <a:rPr lang="en-US" sz="2800" b="0" i="0" u="none" strike="noStrike" dirty="0">
                          <a:solidFill>
                            <a:srgbClr val="000000"/>
                          </a:solidFill>
                          <a:effectLst/>
                          <a:latin typeface="Arial"/>
                        </a:rPr>
                        <a:t>Lack of inclusive &amp; dignified campus infrastructure</a:t>
                      </a:r>
                    </a:p>
                  </a:txBody>
                  <a:tcPr marL="68580" marR="68580">
                    <a:lnL w="9524">
                      <a:solidFill>
                        <a:srgbClr val="000000"/>
                      </a:solidFill>
                    </a:lnL>
                    <a:lnR w="9524">
                      <a:solidFill>
                        <a:srgbClr val="000000"/>
                      </a:solidFill>
                    </a:lnR>
                    <a:noFill/>
                  </a:tcPr>
                </a:tc>
                <a:tc>
                  <a:txBody>
                    <a:bodyPr/>
                    <a:lstStyle/>
                    <a:p>
                      <a:pPr marL="0" lvl="0" indent="0" algn="l">
                        <a:lnSpc>
                          <a:spcPts val="5250"/>
                        </a:lnSpc>
                        <a:buNone/>
                      </a:pPr>
                      <a:r>
                        <a:rPr lang="en-US" sz="3600" b="0" i="0" u="none" strike="noStrike" dirty="0">
                          <a:solidFill>
                            <a:srgbClr val="000000"/>
                          </a:solidFill>
                          <a:effectLst/>
                          <a:latin typeface="Arial"/>
                        </a:rPr>
                        <a:t>3</a:t>
                      </a:r>
                    </a:p>
                  </a:txBody>
                  <a:tcPr marL="68580" marR="68580">
                    <a:lnL w="9524">
                      <a:solidFill>
                        <a:srgbClr val="000000"/>
                      </a:solidFill>
                    </a:lnL>
                    <a:lnR w="9524">
                      <a:solidFill>
                        <a:srgbClr val="000000"/>
                      </a:solidFill>
                    </a:lnR>
                    <a:noFill/>
                  </a:tcPr>
                </a:tc>
                <a:tc>
                  <a:txBody>
                    <a:bodyPr/>
                    <a:lstStyle/>
                    <a:p>
                      <a:pPr lvl="0" algn="l">
                        <a:lnSpc>
                          <a:spcPts val="5250"/>
                        </a:lnSpc>
                        <a:buNone/>
                      </a:pPr>
                      <a:r>
                        <a:rPr lang="en-US" sz="3600" b="0" i="0" u="none" strike="noStrike" dirty="0">
                          <a:solidFill>
                            <a:srgbClr val="000000"/>
                          </a:solidFill>
                          <a:effectLst/>
                          <a:latin typeface="Arial"/>
                        </a:rPr>
                        <a:t>3</a:t>
                      </a:r>
                    </a:p>
                  </a:txBody>
                  <a:tcPr marL="68580" marR="68580">
                    <a:lnL w="9524">
                      <a:solidFill>
                        <a:srgbClr val="000000"/>
                      </a:solidFill>
                    </a:lnL>
                    <a:lnR w="9524">
                      <a:solidFill>
                        <a:srgbClr val="000000"/>
                      </a:solidFill>
                    </a:lnR>
                    <a:noFill/>
                  </a:tcPr>
                </a:tc>
                <a:tc>
                  <a:txBody>
                    <a:bodyPr/>
                    <a:lstStyle/>
                    <a:p>
                      <a:pPr lvl="0" algn="l">
                        <a:lnSpc>
                          <a:spcPts val="5250"/>
                        </a:lnSpc>
                        <a:buNone/>
                      </a:pPr>
                      <a:r>
                        <a:rPr lang="en-US" sz="3600" b="0" i="0" u="none" strike="noStrike" dirty="0">
                          <a:solidFill>
                            <a:srgbClr val="000000"/>
                          </a:solidFill>
                          <a:effectLst/>
                          <a:latin typeface="Arial"/>
                        </a:rPr>
                        <a:t>3</a:t>
                      </a:r>
                    </a:p>
                  </a:txBody>
                  <a:tcPr marL="68580" marR="68580">
                    <a:lnL w="9524">
                      <a:solidFill>
                        <a:srgbClr val="000000"/>
                      </a:solidFill>
                    </a:lnL>
                    <a:lnR w="9524">
                      <a:solidFill>
                        <a:srgbClr val="000000"/>
                      </a:solidFill>
                    </a:lnR>
                    <a:noFill/>
                  </a:tcPr>
                </a:tc>
                <a:tc>
                  <a:txBody>
                    <a:bodyPr/>
                    <a:lstStyle/>
                    <a:p>
                      <a:pPr lvl="0" algn="l">
                        <a:lnSpc>
                          <a:spcPts val="5250"/>
                        </a:lnSpc>
                        <a:buNone/>
                      </a:pPr>
                      <a:r>
                        <a:rPr lang="en-US" sz="3600" b="0" i="0" u="none" strike="noStrike" dirty="0">
                          <a:solidFill>
                            <a:srgbClr val="000000"/>
                          </a:solidFill>
                          <a:effectLst/>
                          <a:latin typeface="Arial"/>
                        </a:rPr>
                        <a:t>9</a:t>
                      </a:r>
                    </a:p>
                  </a:txBody>
                  <a:tcPr marL="68580" marR="68580">
                    <a:lnL w="9524">
                      <a:solidFill>
                        <a:srgbClr val="000000"/>
                      </a:solidFill>
                    </a:lnL>
                    <a:lnR w="9524">
                      <a:solidFill>
                        <a:srgbClr val="000000"/>
                      </a:solidFill>
                    </a:lnR>
                    <a:noFill/>
                  </a:tcPr>
                </a:tc>
                <a:extLst>
                  <a:ext uri="{0D108BD9-81ED-4DB2-BD59-A6C34878D82A}">
                    <a16:rowId xmlns:a16="http://schemas.microsoft.com/office/drawing/2014/main" val="2043377524"/>
                  </a:ext>
                </a:extLst>
              </a:tr>
              <a:tr h="969581">
                <a:tc>
                  <a:txBody>
                    <a:bodyPr/>
                    <a:lstStyle/>
                    <a:p>
                      <a:pPr lvl="0" algn="ctr">
                        <a:lnSpc>
                          <a:spcPts val="5250"/>
                        </a:lnSpc>
                        <a:buNone/>
                      </a:pPr>
                      <a:r>
                        <a:rPr lang="en-US" sz="3600" b="1" i="0" u="none" strike="noStrike" noProof="0" dirty="0">
                          <a:solidFill>
                            <a:srgbClr val="000000"/>
                          </a:solidFill>
                          <a:effectLst/>
                          <a:latin typeface="Arial"/>
                        </a:rPr>
                        <a:t>Idea 3</a:t>
                      </a:r>
                    </a:p>
                    <a:p>
                      <a:pPr lvl="0" algn="ctr">
                        <a:lnSpc>
                          <a:spcPct val="100000"/>
                        </a:lnSpc>
                        <a:buNone/>
                      </a:pPr>
                      <a:r>
                        <a:rPr lang="en-US" sz="2800" b="0" i="0" u="none" strike="noStrike" noProof="0" dirty="0">
                          <a:solidFill>
                            <a:srgbClr val="000000"/>
                          </a:solidFill>
                          <a:effectLst/>
                          <a:latin typeface="Arial"/>
                        </a:rPr>
                        <a:t>Makerspace Accessibility and Information Gap</a:t>
                      </a:r>
                      <a:endParaRPr lang="en-US" sz="2800" b="0" dirty="0"/>
                    </a:p>
                  </a:txBody>
                  <a:tcPr marL="68580" marR="68580">
                    <a:lnL w="9524">
                      <a:solidFill>
                        <a:srgbClr val="000000"/>
                      </a:solidFill>
                    </a:lnL>
                    <a:lnR w="9524" cap="flat" cmpd="sng" algn="ctr">
                      <a:solidFill>
                        <a:srgbClr val="000000"/>
                      </a:solidFill>
                      <a:prstDash val="solid"/>
                      <a:round/>
                      <a:headEnd type="none" w="med" len="med"/>
                      <a:tailEnd type="none" w="med" len="med"/>
                    </a:lnR>
                    <a:noFill/>
                  </a:tcPr>
                </a:tc>
                <a:tc>
                  <a:txBody>
                    <a:bodyPr/>
                    <a:lstStyle/>
                    <a:p>
                      <a:pPr marL="0" lvl="0" indent="0" algn="l">
                        <a:lnSpc>
                          <a:spcPts val="5250"/>
                        </a:lnSpc>
                        <a:buNone/>
                      </a:pPr>
                      <a:r>
                        <a:rPr lang="en-US" sz="3600" b="0" i="0" u="none" strike="noStrike" dirty="0">
                          <a:solidFill>
                            <a:srgbClr val="000000"/>
                          </a:solidFill>
                          <a:effectLst/>
                          <a:latin typeface="Arial"/>
                        </a:rPr>
                        <a:t>4</a:t>
                      </a:r>
                    </a:p>
                    <a:p>
                      <a:pPr marL="0" lvl="0" indent="0" algn="l">
                        <a:lnSpc>
                          <a:spcPts val="5250"/>
                        </a:lnSpc>
                        <a:buNone/>
                      </a:pPr>
                      <a:endParaRPr lang="en-US" sz="3600" b="0" i="0" u="none" strike="noStrike" dirty="0">
                        <a:solidFill>
                          <a:srgbClr val="000000"/>
                        </a:solidFill>
                        <a:effectLst/>
                        <a:latin typeface="Arial"/>
                      </a:endParaRPr>
                    </a:p>
                    <a:p>
                      <a:pPr marL="0" lvl="0" indent="0" algn="l">
                        <a:lnSpc>
                          <a:spcPts val="5250"/>
                        </a:lnSpc>
                        <a:buNone/>
                      </a:pPr>
                      <a:endParaRPr lang="en-US" sz="3600" b="0" i="0" u="none" strike="noStrike" dirty="0">
                        <a:solidFill>
                          <a:srgbClr val="000000"/>
                        </a:solidFill>
                        <a:effectLst/>
                        <a:latin typeface="Arial"/>
                      </a:endParaRPr>
                    </a:p>
                  </a:txBody>
                  <a:tcPr marL="68580" marR="68580">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noFill/>
                  </a:tcPr>
                </a:tc>
                <a:tc>
                  <a:txBody>
                    <a:bodyPr/>
                    <a:lstStyle/>
                    <a:p>
                      <a:pPr lvl="0" algn="l">
                        <a:lnSpc>
                          <a:spcPts val="5250"/>
                        </a:lnSpc>
                        <a:buNone/>
                      </a:pPr>
                      <a:r>
                        <a:rPr lang="en-US" sz="3600" b="0" i="0" u="none" strike="noStrike" dirty="0">
                          <a:solidFill>
                            <a:srgbClr val="000000"/>
                          </a:solidFill>
                          <a:effectLst/>
                          <a:latin typeface="Arial"/>
                        </a:rPr>
                        <a:t>4</a:t>
                      </a:r>
                    </a:p>
                  </a:txBody>
                  <a:tcPr marL="68580" marR="68580">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noFill/>
                  </a:tcPr>
                </a:tc>
                <a:tc>
                  <a:txBody>
                    <a:bodyPr/>
                    <a:lstStyle/>
                    <a:p>
                      <a:pPr lvl="0" algn="l">
                        <a:lnSpc>
                          <a:spcPts val="5250"/>
                        </a:lnSpc>
                        <a:buNone/>
                      </a:pPr>
                      <a:r>
                        <a:rPr lang="en-US" sz="3600" b="0" i="0" u="none" strike="noStrike" dirty="0">
                          <a:solidFill>
                            <a:srgbClr val="000000"/>
                          </a:solidFill>
                          <a:effectLst/>
                          <a:latin typeface="Arial"/>
                        </a:rPr>
                        <a:t>4</a:t>
                      </a:r>
                    </a:p>
                  </a:txBody>
                  <a:tcPr marL="68580" marR="68580">
                    <a:lnL w="9524" cap="flat" cmpd="sng" algn="ctr">
                      <a:solidFill>
                        <a:srgbClr val="000000"/>
                      </a:solidFill>
                      <a:prstDash val="solid"/>
                      <a:round/>
                      <a:headEnd type="none" w="med" len="med"/>
                      <a:tailEnd type="none" w="med" len="med"/>
                    </a:lnL>
                    <a:lnR w="9524" cap="flat" cmpd="sng" algn="ctr">
                      <a:solidFill>
                        <a:srgbClr val="000000"/>
                      </a:solidFill>
                      <a:prstDash val="solid"/>
                      <a:round/>
                      <a:headEnd type="none" w="med" len="med"/>
                      <a:tailEnd type="none" w="med" len="med"/>
                    </a:lnR>
                    <a:noFill/>
                  </a:tcPr>
                </a:tc>
                <a:tc>
                  <a:txBody>
                    <a:bodyPr/>
                    <a:lstStyle/>
                    <a:p>
                      <a:pPr lvl="0" algn="l">
                        <a:lnSpc>
                          <a:spcPts val="5250"/>
                        </a:lnSpc>
                        <a:buNone/>
                      </a:pPr>
                      <a:r>
                        <a:rPr lang="en-US" sz="3600" b="0" i="0" u="none" strike="noStrike" dirty="0">
                          <a:solidFill>
                            <a:srgbClr val="000000"/>
                          </a:solidFill>
                          <a:effectLst/>
                          <a:latin typeface="Arial"/>
                        </a:rPr>
                        <a:t>12</a:t>
                      </a:r>
                    </a:p>
                  </a:txBody>
                  <a:tcPr marL="68580" marR="68580">
                    <a:lnL w="9524" cap="flat" cmpd="sng" algn="ctr">
                      <a:solidFill>
                        <a:srgbClr val="000000"/>
                      </a:solidFill>
                      <a:prstDash val="solid"/>
                      <a:round/>
                      <a:headEnd type="none" w="med" len="med"/>
                      <a:tailEnd type="none" w="med" len="med"/>
                    </a:lnL>
                    <a:lnR w="9524">
                      <a:solidFill>
                        <a:srgbClr val="000000"/>
                      </a:solidFill>
                    </a:lnR>
                    <a:noFill/>
                  </a:tcPr>
                </a:tc>
                <a:extLst>
                  <a:ext uri="{0D108BD9-81ED-4DB2-BD59-A6C34878D82A}">
                    <a16:rowId xmlns:a16="http://schemas.microsoft.com/office/drawing/2014/main" val="2514969199"/>
                  </a:ext>
                </a:extLst>
              </a:tr>
              <a:tr h="969581">
                <a:tc>
                  <a:txBody>
                    <a:bodyPr/>
                    <a:lstStyle/>
                    <a:p>
                      <a:pPr lvl="0" algn="ctr">
                        <a:lnSpc>
                          <a:spcPts val="5250"/>
                        </a:lnSpc>
                        <a:buNone/>
                      </a:pPr>
                      <a:r>
                        <a:rPr lang="en-US" sz="3600" b="1" i="0" u="none" strike="noStrike" noProof="0" dirty="0">
                          <a:solidFill>
                            <a:srgbClr val="000000"/>
                          </a:solidFill>
                          <a:effectLst/>
                          <a:latin typeface="Arial"/>
                        </a:rPr>
                        <a:t>Idea 4</a:t>
                      </a:r>
                    </a:p>
                    <a:p>
                      <a:pPr marL="0" marR="0" lvl="0" indent="0" algn="ctr" defTabSz="1828800" rtl="0" eaLnBrk="1" fontAlgn="auto" latinLnBrk="0" hangingPunct="1">
                        <a:lnSpc>
                          <a:spcPct val="100000"/>
                        </a:lnSpc>
                        <a:spcBef>
                          <a:spcPts val="0"/>
                        </a:spcBef>
                        <a:spcAft>
                          <a:spcPts val="0"/>
                        </a:spcAft>
                        <a:buClrTx/>
                        <a:buSzTx/>
                        <a:buFontTx/>
                        <a:buNone/>
                        <a:tabLst/>
                        <a:defRPr/>
                      </a:pPr>
                      <a:r>
                        <a:rPr lang="en-US" sz="2000" b="0" i="0" u="none" strike="noStrike" dirty="0">
                          <a:solidFill>
                            <a:srgbClr val="000000"/>
                          </a:solidFill>
                          <a:effectLst/>
                          <a:latin typeface="+mn-lt"/>
                        </a:rPr>
                        <a:t>Professors Repository for Office Hours and Office Seating Arrangements</a:t>
                      </a:r>
                      <a:endParaRPr lang="en-US" sz="2000" b="1" i="0" u="none" strike="noStrike" noProof="0" dirty="0">
                        <a:solidFill>
                          <a:srgbClr val="000000"/>
                        </a:solidFill>
                        <a:effectLst/>
                        <a:latin typeface="Arial"/>
                      </a:endParaRPr>
                    </a:p>
                  </a:txBody>
                  <a:tcPr marL="68580" marR="68580">
                    <a:lnL w="9524">
                      <a:solidFill>
                        <a:srgbClr val="000000"/>
                      </a:solidFill>
                    </a:lnL>
                    <a:lnR w="9524">
                      <a:solidFill>
                        <a:srgbClr val="000000"/>
                      </a:solidFill>
                    </a:lnR>
                    <a:lnB w="9524">
                      <a:solidFill>
                        <a:srgbClr val="000000"/>
                      </a:solidFill>
                    </a:lnB>
                    <a:noFill/>
                  </a:tcPr>
                </a:tc>
                <a:tc>
                  <a:txBody>
                    <a:bodyPr/>
                    <a:lstStyle/>
                    <a:p>
                      <a:pPr marL="0" lvl="0" indent="0" algn="l">
                        <a:lnSpc>
                          <a:spcPts val="5250"/>
                        </a:lnSpc>
                        <a:buNone/>
                      </a:pPr>
                      <a:r>
                        <a:rPr lang="en-US" sz="3600" b="0" i="0" u="none" strike="noStrike" dirty="0">
                          <a:solidFill>
                            <a:srgbClr val="000000"/>
                          </a:solidFill>
                          <a:effectLst/>
                          <a:latin typeface="Arial"/>
                        </a:rPr>
                        <a:t>5</a:t>
                      </a:r>
                    </a:p>
                    <a:p>
                      <a:pPr marL="0" lvl="0" indent="0" algn="l">
                        <a:lnSpc>
                          <a:spcPts val="5250"/>
                        </a:lnSpc>
                        <a:buNone/>
                      </a:pPr>
                      <a:endParaRPr lang="en-US" sz="3600" b="0" i="0" u="none" strike="noStrike" dirty="0">
                        <a:solidFill>
                          <a:srgbClr val="000000"/>
                        </a:solidFill>
                        <a:effectLst/>
                        <a:latin typeface="Arial"/>
                      </a:endParaRP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r>
                        <a:rPr lang="en-US" sz="3600" b="0" i="0" u="none" strike="noStrike" dirty="0">
                          <a:solidFill>
                            <a:srgbClr val="000000"/>
                          </a:solidFill>
                          <a:effectLst/>
                          <a:latin typeface="Arial"/>
                        </a:rPr>
                        <a:t>5</a:t>
                      </a: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r>
                        <a:rPr lang="en-US" sz="3600" b="0" i="0" u="none" strike="noStrike" dirty="0">
                          <a:solidFill>
                            <a:srgbClr val="000000"/>
                          </a:solidFill>
                          <a:effectLst/>
                          <a:latin typeface="Arial"/>
                        </a:rPr>
                        <a:t>5</a:t>
                      </a: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r>
                        <a:rPr lang="en-US" sz="3600" b="0" i="0" u="none" strike="noStrike" dirty="0">
                          <a:solidFill>
                            <a:srgbClr val="000000"/>
                          </a:solidFill>
                          <a:effectLst/>
                          <a:latin typeface="Arial"/>
                        </a:rPr>
                        <a:t>15</a:t>
                      </a:r>
                    </a:p>
                  </a:txBody>
                  <a:tcPr marL="68580" marR="68580">
                    <a:lnL w="9524">
                      <a:solidFill>
                        <a:srgbClr val="000000"/>
                      </a:solidFill>
                    </a:lnL>
                    <a:lnR w="9524">
                      <a:solidFill>
                        <a:srgbClr val="000000"/>
                      </a:solidFill>
                    </a:lnR>
                    <a:lnB w="9524">
                      <a:solidFill>
                        <a:srgbClr val="000000"/>
                      </a:solidFill>
                    </a:lnB>
                    <a:noFill/>
                  </a:tcPr>
                </a:tc>
                <a:extLst>
                  <a:ext uri="{0D108BD9-81ED-4DB2-BD59-A6C34878D82A}">
                    <a16:rowId xmlns:a16="http://schemas.microsoft.com/office/drawing/2014/main" val="2407697237"/>
                  </a:ext>
                </a:extLst>
              </a:tr>
            </a:tbl>
          </a:graphicData>
        </a:graphic>
      </p:graphicFrame>
      <p:sp>
        <p:nvSpPr>
          <p:cNvPr id="4" name="TextBox 3">
            <a:extLst>
              <a:ext uri="{FF2B5EF4-FFF2-40B4-BE49-F238E27FC236}">
                <a16:creationId xmlns:a16="http://schemas.microsoft.com/office/drawing/2014/main" id="{EA6DADBD-6477-AAD5-FBE1-E4D9C8EB2B4B}"/>
              </a:ext>
            </a:extLst>
          </p:cNvPr>
          <p:cNvSpPr txBox="1"/>
          <p:nvPr/>
        </p:nvSpPr>
        <p:spPr>
          <a:xfrm>
            <a:off x="1670591" y="12667773"/>
            <a:ext cx="21730705" cy="13336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4000" dirty="0">
                <a:latin typeface="Arial"/>
                <a:cs typeface="Arial"/>
              </a:rPr>
              <a:t> </a:t>
            </a:r>
            <a:r>
              <a:rPr lang="en-US" sz="3600" b="1" dirty="0">
                <a:latin typeface="Arial"/>
                <a:cs typeface="Arial"/>
              </a:rPr>
              <a:t>Rate each of the parameters from 1 to 5.  1= Lowest and 5= Highest</a:t>
            </a:r>
            <a:endParaRPr lang="en-US" sz="3600" b="1" dirty="0">
              <a:latin typeface="Aptos" panose="02110004020202020204"/>
              <a:cs typeface="Arial"/>
            </a:endParaRPr>
          </a:p>
          <a:p>
            <a:pPr algn="l"/>
            <a:endParaRPr lang="en-US" sz="4000" b="0" i="0" u="none" strike="noStrike" cap="none" spc="0" normalizeH="0" baseline="0" dirty="0">
              <a:ln>
                <a:noFill/>
              </a:ln>
              <a:solidFill>
                <a:srgbClr val="000000"/>
              </a:solidFill>
              <a:effectLst/>
              <a:uFillTx/>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E6FAC343-67FD-1EE6-BC78-9EA71162BE45}"/>
              </a:ext>
            </a:extLst>
          </p:cNvPr>
          <p:cNvSpPr txBox="1"/>
          <p:nvPr/>
        </p:nvSpPr>
        <p:spPr>
          <a:xfrm>
            <a:off x="7910623" y="11823405"/>
            <a:ext cx="12404934" cy="523220"/>
          </a:xfrm>
          <a:prstGeom prst="rect">
            <a:avLst/>
          </a:prstGeom>
          <a:noFill/>
        </p:spPr>
        <p:txBody>
          <a:bodyPr wrap="none" rtlCol="0">
            <a:spAutoFit/>
          </a:bodyPr>
          <a:lstStyle/>
          <a:p>
            <a:r>
              <a:rPr lang="en-US" sz="2800" dirty="0">
                <a:solidFill>
                  <a:schemeClr val="tx2">
                    <a:lumMod val="90000"/>
                    <a:lumOff val="10000"/>
                  </a:schemeClr>
                </a:solidFill>
              </a:rPr>
              <a:t>(not chosen as one of our top 3 ideas as it is not uniquely engaging for our group</a:t>
            </a:r>
          </a:p>
        </p:txBody>
      </p:sp>
    </p:spTree>
    <p:extLst>
      <p:ext uri="{BB962C8B-B14F-4D97-AF65-F5344CB8AC3E}">
        <p14:creationId xmlns:p14="http://schemas.microsoft.com/office/powerpoint/2010/main" val="8624633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41B61C-CFB6-83E4-FDC4-013ACF4BB013}"/>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582BAE5F-587F-E471-E473-2EF94F8F4A1E}"/>
              </a:ext>
            </a:extLst>
          </p:cNvPr>
          <p:cNvSpPr/>
          <p:nvPr/>
        </p:nvSpPr>
        <p:spPr>
          <a:xfrm>
            <a:off x="2043696" y="1478435"/>
            <a:ext cx="17190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SWOT Analysis</a:t>
            </a:r>
          </a:p>
        </p:txBody>
      </p:sp>
      <p:sp>
        <p:nvSpPr>
          <p:cNvPr id="5" name="TextBox 4">
            <a:extLst>
              <a:ext uri="{FF2B5EF4-FFF2-40B4-BE49-F238E27FC236}">
                <a16:creationId xmlns:a16="http://schemas.microsoft.com/office/drawing/2014/main" id="{D9EA9B05-2B6C-4643-EC2B-62F1A5077186}"/>
              </a:ext>
            </a:extLst>
          </p:cNvPr>
          <p:cNvSpPr txBox="1"/>
          <p:nvPr/>
        </p:nvSpPr>
        <p:spPr>
          <a:xfrm>
            <a:off x="2028614" y="2755227"/>
            <a:ext cx="22121299"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857250" indent="-857250">
              <a:buFont typeface="Arial"/>
              <a:buChar char="•"/>
            </a:pPr>
            <a:r>
              <a:rPr lang="en-US" sz="6000">
                <a:latin typeface="Arial"/>
                <a:cs typeface="Arial"/>
              </a:rPr>
              <a:t>Pick the top 3 problem ideas identified</a:t>
            </a:r>
            <a:endParaRPr lang="en-US" sz="6000">
              <a:latin typeface="Arial" panose="020B0604020202020204" pitchFamily="34" charset="0"/>
              <a:cs typeface="Arial" panose="020B0604020202020204" pitchFamily="34" charset="0"/>
            </a:endParaRPr>
          </a:p>
          <a:p>
            <a:pPr marL="857250" indent="-857250">
              <a:buFont typeface="Arial"/>
              <a:buChar char="•"/>
            </a:pPr>
            <a:r>
              <a:rPr lang="en-US" sz="6000">
                <a:latin typeface="Arial"/>
                <a:cs typeface="Arial"/>
              </a:rPr>
              <a:t>Do the SWOT analysis as follows for each of these 3 solutions</a:t>
            </a:r>
            <a:endParaRPr lang="en-US" sz="6000" b="0" i="0" u="none" strike="noStrike" cap="none" spc="0" normalizeH="0" baseline="0">
              <a:ln>
                <a:noFill/>
              </a:ln>
              <a:solidFill>
                <a:srgbClr val="000000"/>
              </a:solidFill>
              <a:effectLst/>
              <a:uFillTx/>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004C78AD-E2FC-72F6-65D1-7508705FFDF6}"/>
              </a:ext>
            </a:extLst>
          </p:cNvPr>
          <p:cNvGraphicFramePr>
            <a:graphicFrameLocks noGrp="1"/>
          </p:cNvGraphicFramePr>
          <p:nvPr>
            <p:extLst>
              <p:ext uri="{D42A27DB-BD31-4B8C-83A1-F6EECF244321}">
                <p14:modId xmlns:p14="http://schemas.microsoft.com/office/powerpoint/2010/main" val="1385654102"/>
              </p:ext>
            </p:extLst>
          </p:nvPr>
        </p:nvGraphicFramePr>
        <p:xfrm>
          <a:off x="2043696" y="4899210"/>
          <a:ext cx="21250593" cy="7694042"/>
        </p:xfrm>
        <a:graphic>
          <a:graphicData uri="http://schemas.openxmlformats.org/drawingml/2006/table">
            <a:tbl>
              <a:tblPr bandRow="1">
                <a:tableStyleId>{5940675A-B579-460E-94D1-54222C63F5DA}</a:tableStyleId>
              </a:tblPr>
              <a:tblGrid>
                <a:gridCol w="2962593">
                  <a:extLst>
                    <a:ext uri="{9D8B030D-6E8A-4147-A177-3AD203B41FA5}">
                      <a16:colId xmlns:a16="http://schemas.microsoft.com/office/drawing/2014/main" val="3917652687"/>
                    </a:ext>
                  </a:extLst>
                </a:gridCol>
                <a:gridCol w="4572000">
                  <a:extLst>
                    <a:ext uri="{9D8B030D-6E8A-4147-A177-3AD203B41FA5}">
                      <a16:colId xmlns:a16="http://schemas.microsoft.com/office/drawing/2014/main" val="81345911"/>
                    </a:ext>
                  </a:extLst>
                </a:gridCol>
                <a:gridCol w="4572000">
                  <a:extLst>
                    <a:ext uri="{9D8B030D-6E8A-4147-A177-3AD203B41FA5}">
                      <a16:colId xmlns:a16="http://schemas.microsoft.com/office/drawing/2014/main" val="2075339105"/>
                    </a:ext>
                  </a:extLst>
                </a:gridCol>
                <a:gridCol w="4572000">
                  <a:extLst>
                    <a:ext uri="{9D8B030D-6E8A-4147-A177-3AD203B41FA5}">
                      <a16:colId xmlns:a16="http://schemas.microsoft.com/office/drawing/2014/main" val="544377941"/>
                    </a:ext>
                  </a:extLst>
                </a:gridCol>
                <a:gridCol w="4572000">
                  <a:extLst>
                    <a:ext uri="{9D8B030D-6E8A-4147-A177-3AD203B41FA5}">
                      <a16:colId xmlns:a16="http://schemas.microsoft.com/office/drawing/2014/main" val="1374285997"/>
                    </a:ext>
                  </a:extLst>
                </a:gridCol>
              </a:tblGrid>
              <a:tr h="1294320">
                <a:tc>
                  <a:txBody>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en-US" sz="4800" b="1" i="0" u="none" strike="noStrike" cap="none" spc="0" baseline="0">
                          <a:ln>
                            <a:noFill/>
                          </a:ln>
                          <a:solidFill>
                            <a:schemeClr val="bg1"/>
                          </a:solidFill>
                          <a:uFillTx/>
                          <a:latin typeface="Arial"/>
                          <a:ea typeface="+mn-ea"/>
                          <a:cs typeface="+mn-cs"/>
                        </a:rPr>
                        <a:t> </a:t>
                      </a:r>
                      <a:r>
                        <a:rPr lang="en-US" sz="4800" b="1" i="0" u="none" strike="noStrike">
                          <a:solidFill>
                            <a:srgbClr val="000000"/>
                          </a:solidFill>
                          <a:effectLst/>
                          <a:latin typeface="Arial"/>
                        </a:rPr>
                        <a:t>Problem idea</a:t>
                      </a:r>
                      <a:r>
                        <a:rPr lang="en-US" sz="4800" b="1" i="0" u="none" strike="noStrike" cap="none" spc="0" baseline="0">
                          <a:ln>
                            <a:noFill/>
                          </a:ln>
                          <a:solidFill>
                            <a:schemeClr val="bg1"/>
                          </a:solidFill>
                          <a:uFillTx/>
                          <a:latin typeface="Arial"/>
                          <a:ea typeface="+mn-ea"/>
                          <a:cs typeface="+mn-cs"/>
                        </a:rPr>
                        <a:t> </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tx1"/>
                          </a:solidFill>
                          <a:latin typeface="Arial"/>
                        </a:rPr>
                        <a:t>Strengths</a:t>
                      </a:r>
                    </a:p>
                    <a:p>
                      <a:pPr lvl="0" algn="ctr">
                        <a:buNone/>
                      </a:pPr>
                      <a:r>
                        <a:rPr lang="en-US" sz="4800" b="1" baseline="0">
                          <a:solidFill>
                            <a:schemeClr val="tx1"/>
                          </a:solidFill>
                          <a:latin typeface="Arial"/>
                        </a:rPr>
                        <a:t>(S)</a:t>
                      </a:r>
                    </a:p>
                  </a:txBody>
                  <a:tcPr anchor="ctr">
                    <a:solidFill>
                      <a:srgbClr val="FFC000"/>
                    </a:solidFill>
                  </a:tcPr>
                </a:tc>
                <a:tc>
                  <a:txBody>
                    <a:bodyPr/>
                    <a:lstStyle/>
                    <a:p>
                      <a:pPr marL="0" lvl="0" indent="0" algn="ctr">
                        <a:buNone/>
                      </a:pPr>
                      <a:r>
                        <a:rPr lang="en-US" sz="4800" b="1">
                          <a:solidFill>
                            <a:schemeClr val="tx1"/>
                          </a:solidFill>
                          <a:latin typeface="Arial"/>
                        </a:rPr>
                        <a:t>Weaknesses</a:t>
                      </a:r>
                    </a:p>
                    <a:p>
                      <a:pPr marL="0" lvl="0" indent="0" algn="ctr">
                        <a:buNone/>
                      </a:pPr>
                      <a:r>
                        <a:rPr lang="en-US" sz="4800" b="1">
                          <a:solidFill>
                            <a:schemeClr val="tx1"/>
                          </a:solidFill>
                          <a:latin typeface="Arial"/>
                        </a:rPr>
                        <a:t>(W)</a:t>
                      </a:r>
                      <a:r>
                        <a:rPr lang="en-US" sz="4800" b="1">
                          <a:solidFill>
                            <a:schemeClr val="bg1"/>
                          </a:solidFill>
                          <a:latin typeface="Arial"/>
                        </a:rPr>
                        <a:t> </a:t>
                      </a:r>
                      <a:endParaRPr lang="en-US"/>
                    </a:p>
                  </a:txBody>
                  <a:tcPr anchor="ctr">
                    <a:solidFill>
                      <a:schemeClr val="accent5">
                        <a:lumMod val="60000"/>
                        <a:lumOff val="40000"/>
                      </a:schemeClr>
                    </a:solidFill>
                  </a:tcPr>
                </a:tc>
                <a:tc>
                  <a:txBody>
                    <a:bodyPr/>
                    <a:lstStyle/>
                    <a:p>
                      <a:pPr lvl="0" algn="ctr">
                        <a:buNone/>
                      </a:pPr>
                      <a:r>
                        <a:rPr lang="en-US" sz="4800" b="1">
                          <a:solidFill>
                            <a:schemeClr val="tx1"/>
                          </a:solidFill>
                          <a:latin typeface="Arial"/>
                        </a:rPr>
                        <a:t>Opportunities</a:t>
                      </a:r>
                    </a:p>
                    <a:p>
                      <a:pPr lvl="0" algn="ctr">
                        <a:buNone/>
                      </a:pPr>
                      <a:r>
                        <a:rPr lang="en-US" sz="4800" b="1">
                          <a:solidFill>
                            <a:schemeClr val="tx1"/>
                          </a:solidFill>
                          <a:latin typeface="Arial"/>
                        </a:rPr>
                        <a:t>(O)</a:t>
                      </a:r>
                      <a:endParaRPr lang="en-US">
                        <a:solidFill>
                          <a:schemeClr val="tx1"/>
                        </a:solidFill>
                      </a:endParaRPr>
                    </a:p>
                  </a:txBody>
                  <a:tcPr anchor="ctr">
                    <a:solidFill>
                      <a:schemeClr val="accent6">
                        <a:lumMod val="60000"/>
                        <a:lumOff val="40000"/>
                      </a:schemeClr>
                    </a:solidFill>
                  </a:tcPr>
                </a:tc>
                <a:tc>
                  <a:txBody>
                    <a:bodyPr/>
                    <a:lstStyle/>
                    <a:p>
                      <a:pPr lvl="0" algn="ctr">
                        <a:buNone/>
                      </a:pPr>
                      <a:r>
                        <a:rPr lang="en-US" sz="4800" b="1" baseline="0">
                          <a:solidFill>
                            <a:schemeClr val="tx1"/>
                          </a:solidFill>
                          <a:latin typeface="Arial"/>
                        </a:rPr>
                        <a:t>Threats</a:t>
                      </a:r>
                    </a:p>
                    <a:p>
                      <a:pPr lvl="0" algn="ctr">
                        <a:buNone/>
                      </a:pPr>
                      <a:r>
                        <a:rPr lang="en-US" sz="4800" b="1" baseline="0">
                          <a:solidFill>
                            <a:schemeClr val="tx1"/>
                          </a:solidFill>
                          <a:latin typeface="Arial"/>
                        </a:rPr>
                        <a:t>(T)</a:t>
                      </a:r>
                      <a:endParaRPr lang="en-US">
                        <a:solidFill>
                          <a:schemeClr val="tx1"/>
                        </a:solidFill>
                      </a:endParaRPr>
                    </a:p>
                  </a:txBody>
                  <a:tcPr anchor="ctr">
                    <a:solidFill>
                      <a:srgbClr val="FF0000"/>
                    </a:solidFill>
                  </a:tcPr>
                </a:tc>
                <a:extLst>
                  <a:ext uri="{0D108BD9-81ED-4DB2-BD59-A6C34878D82A}">
                    <a16:rowId xmlns:a16="http://schemas.microsoft.com/office/drawing/2014/main" val="2136606143"/>
                  </a:ext>
                </a:extLst>
              </a:tr>
              <a:tr h="3014859">
                <a:tc>
                  <a:txBody>
                    <a:bodyPr/>
                    <a:lstStyle/>
                    <a:p>
                      <a:pPr algn="ctr" fontAlgn="base">
                        <a:lnSpc>
                          <a:spcPts val="5250"/>
                        </a:lnSpc>
                        <a:buNone/>
                      </a:pPr>
                      <a:r>
                        <a:rPr lang="en-US" sz="3600" b="1" i="0" u="none" strike="noStrike">
                          <a:solidFill>
                            <a:srgbClr val="000000"/>
                          </a:solidFill>
                          <a:effectLst/>
                          <a:latin typeface="Arial"/>
                        </a:rPr>
                        <a:t>Problem idea 1</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algn="l" fontAlgn="base">
                        <a:lnSpc>
                          <a:spcPts val="5250"/>
                        </a:lnSpc>
                        <a:buNone/>
                      </a:pPr>
                      <a:r>
                        <a:rPr lang="en-US" sz="3600" b="0" i="0" u="none" strike="noStrike" noProof="0">
                          <a:solidFill>
                            <a:srgbClr val="000000"/>
                          </a:solidFill>
                          <a:effectLst/>
                          <a:latin typeface="Arial"/>
                        </a:rPr>
                        <a:t>What are the most important features of this problem that makes it most suitable for solving?</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algn="l" fontAlgn="base">
                        <a:lnSpc>
                          <a:spcPts val="5250"/>
                        </a:lnSpc>
                        <a:buNone/>
                      </a:pPr>
                      <a:r>
                        <a:rPr lang="en-US" sz="3600" b="0" i="0" u="none" strike="noStrike">
                          <a:solidFill>
                            <a:srgbClr val="000000"/>
                          </a:solidFill>
                          <a:effectLst/>
                          <a:latin typeface="Arial"/>
                        </a:rPr>
                        <a:t>What are some of the setbacks associated with it?</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algn="l" fontAlgn="base">
                        <a:lnSpc>
                          <a:spcPts val="5250"/>
                        </a:lnSpc>
                        <a:buNone/>
                      </a:pPr>
                      <a:r>
                        <a:rPr lang="en-US" sz="3600" b="0" i="0" u="none" strike="noStrike">
                          <a:solidFill>
                            <a:srgbClr val="000000"/>
                          </a:solidFill>
                          <a:effectLst/>
                          <a:latin typeface="Arial"/>
                        </a:rPr>
                        <a:t>What makes the problem stand out?</a:t>
                      </a:r>
                    </a:p>
                    <a:p>
                      <a:pPr lvl="0" algn="l">
                        <a:lnSpc>
                          <a:spcPts val="5250"/>
                        </a:lnSpc>
                        <a:buNone/>
                      </a:pPr>
                      <a:endParaRPr lang="en-US" sz="3600" b="0" i="0" u="none" strike="noStrike">
                        <a:solidFill>
                          <a:srgbClr val="000000"/>
                        </a:solidFill>
                        <a:effectLst/>
                        <a:latin typeface="Arial"/>
                      </a:endParaRPr>
                    </a:p>
                    <a:p>
                      <a:pPr lvl="0" algn="l">
                        <a:lnSpc>
                          <a:spcPts val="5250"/>
                        </a:lnSpc>
                        <a:buNone/>
                      </a:pPr>
                      <a:r>
                        <a:rPr lang="en-US" sz="3600" b="0" i="0" u="none" strike="noStrike">
                          <a:solidFill>
                            <a:srgbClr val="000000"/>
                          </a:solidFill>
                          <a:effectLst/>
                          <a:latin typeface="Arial"/>
                        </a:rPr>
                        <a:t>How will it benefit the users?</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algn="l" fontAlgn="base">
                        <a:lnSpc>
                          <a:spcPts val="5250"/>
                        </a:lnSpc>
                        <a:buNone/>
                      </a:pPr>
                      <a:r>
                        <a:rPr lang="en-US" sz="3600" b="0" i="0" u="none" strike="noStrike">
                          <a:solidFill>
                            <a:srgbClr val="000000"/>
                          </a:solidFill>
                          <a:effectLst/>
                          <a:latin typeface="Arial"/>
                        </a:rPr>
                        <a:t>Negative aspects that will limit the scope of your problem</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4158352676"/>
                  </a:ext>
                </a:extLst>
              </a:tr>
              <a:tr h="1302151">
                <a:tc>
                  <a:txBody>
                    <a:bodyPr/>
                    <a:lstStyle/>
                    <a:p>
                      <a:pPr marL="0" marR="0" lvl="0" indent="0" algn="ctr" defTabSz="1828800" rtl="0" eaLnBrk="1" fontAlgn="auto" latinLnBrk="0" hangingPunct="1">
                        <a:lnSpc>
                          <a:spcPts val="5250"/>
                        </a:lnSpc>
                        <a:spcBef>
                          <a:spcPts val="0"/>
                        </a:spcBef>
                        <a:spcAft>
                          <a:spcPts val="0"/>
                        </a:spcAft>
                        <a:buClrTx/>
                        <a:buSzTx/>
                        <a:buFontTx/>
                        <a:buNone/>
                        <a:tabLst/>
                        <a:defRPr/>
                      </a:pPr>
                      <a:r>
                        <a:rPr lang="en-US" sz="3600" b="1" i="0" u="none" strike="noStrike">
                          <a:solidFill>
                            <a:srgbClr val="000000"/>
                          </a:solidFill>
                          <a:effectLst/>
                          <a:latin typeface="Arial"/>
                        </a:rPr>
                        <a:t>Problem idea 2</a:t>
                      </a:r>
                    </a:p>
                  </a:txBody>
                  <a:tcPr marL="68580" marR="68580">
                    <a:lnL w="9524">
                      <a:solidFill>
                        <a:srgbClr val="000000"/>
                      </a:solidFill>
                    </a:lnL>
                    <a:lnR w="9524">
                      <a:solidFill>
                        <a:srgbClr val="000000"/>
                      </a:solidFill>
                    </a:lnR>
                    <a:noFill/>
                  </a:tcPr>
                </a:tc>
                <a:tc>
                  <a:txBody>
                    <a:bodyPr/>
                    <a:lstStyle/>
                    <a:p>
                      <a:pPr lvl="0" algn="l">
                        <a:lnSpc>
                          <a:spcPts val="5250"/>
                        </a:lnSpc>
                        <a:buNone/>
                      </a:pPr>
                      <a:endParaRPr lang="en-US" sz="3600" b="0" i="0" u="none" strike="noStrike" noProof="0">
                        <a:solidFill>
                          <a:srgbClr val="000000"/>
                        </a:solidFill>
                        <a:effectLst/>
                        <a:latin typeface="Arial"/>
                      </a:endParaRPr>
                    </a:p>
                  </a:txBody>
                  <a:tcPr marL="68580" marR="68580">
                    <a:lnL w="9524">
                      <a:solidFill>
                        <a:srgbClr val="000000"/>
                      </a:solidFill>
                    </a:lnL>
                    <a:lnR w="9524">
                      <a:solidFill>
                        <a:srgbClr val="000000"/>
                      </a:solidFill>
                    </a:lnR>
                    <a:noFill/>
                  </a:tcPr>
                </a:tc>
                <a:tc>
                  <a:txBody>
                    <a:bodyPr/>
                    <a:lstStyle/>
                    <a:p>
                      <a:pPr lvl="0" algn="l">
                        <a:lnSpc>
                          <a:spcPts val="5250"/>
                        </a:lnSpc>
                        <a:buNone/>
                      </a:pPr>
                      <a:endParaRPr lang="en-US" sz="3600" b="0" i="0" u="none" strike="noStrike">
                        <a:solidFill>
                          <a:srgbClr val="000000"/>
                        </a:solidFill>
                        <a:effectLst/>
                        <a:latin typeface="Arial"/>
                      </a:endParaRPr>
                    </a:p>
                  </a:txBody>
                  <a:tcPr marL="68580" marR="68580">
                    <a:lnL w="9524">
                      <a:solidFill>
                        <a:srgbClr val="000000"/>
                      </a:solidFill>
                    </a:lnL>
                    <a:lnR w="9524">
                      <a:solidFill>
                        <a:srgbClr val="000000"/>
                      </a:solidFill>
                    </a:lnR>
                    <a:noFill/>
                  </a:tcPr>
                </a:tc>
                <a:tc>
                  <a:txBody>
                    <a:bodyPr/>
                    <a:lstStyle/>
                    <a:p>
                      <a:pPr lvl="0" algn="l">
                        <a:lnSpc>
                          <a:spcPts val="5250"/>
                        </a:lnSpc>
                        <a:buNone/>
                      </a:pPr>
                      <a:endParaRPr lang="en-US" sz="3600" b="0" i="0" u="none" strike="noStrike">
                        <a:solidFill>
                          <a:srgbClr val="000000"/>
                        </a:solidFill>
                        <a:effectLst/>
                        <a:latin typeface="Arial"/>
                      </a:endParaRPr>
                    </a:p>
                  </a:txBody>
                  <a:tcPr marL="68580" marR="68580">
                    <a:lnL w="9524">
                      <a:solidFill>
                        <a:srgbClr val="000000"/>
                      </a:solidFill>
                    </a:lnL>
                    <a:lnR w="9524">
                      <a:solidFill>
                        <a:srgbClr val="000000"/>
                      </a:solidFill>
                    </a:lnR>
                    <a:noFill/>
                  </a:tcPr>
                </a:tc>
                <a:tc>
                  <a:txBody>
                    <a:bodyPr/>
                    <a:lstStyle/>
                    <a:p>
                      <a:pPr lvl="0" algn="l">
                        <a:lnSpc>
                          <a:spcPts val="5250"/>
                        </a:lnSpc>
                        <a:buNone/>
                      </a:pPr>
                      <a:endParaRPr lang="en-US" sz="3600" b="0" i="0" u="none" strike="noStrike">
                        <a:solidFill>
                          <a:srgbClr val="000000"/>
                        </a:solidFill>
                        <a:effectLst/>
                        <a:latin typeface="Arial"/>
                      </a:endParaRPr>
                    </a:p>
                  </a:txBody>
                  <a:tcPr marL="68580" marR="68580">
                    <a:lnL w="9524">
                      <a:solidFill>
                        <a:srgbClr val="000000"/>
                      </a:solidFill>
                    </a:lnL>
                    <a:lnR w="9524">
                      <a:solidFill>
                        <a:srgbClr val="000000"/>
                      </a:solidFill>
                    </a:lnR>
                    <a:noFill/>
                  </a:tcPr>
                </a:tc>
                <a:extLst>
                  <a:ext uri="{0D108BD9-81ED-4DB2-BD59-A6C34878D82A}">
                    <a16:rowId xmlns:a16="http://schemas.microsoft.com/office/drawing/2014/main" val="3785184501"/>
                  </a:ext>
                </a:extLst>
              </a:tr>
              <a:tr h="1302151">
                <a:tc>
                  <a:txBody>
                    <a:bodyPr/>
                    <a:lstStyle/>
                    <a:p>
                      <a:pPr marL="0" marR="0" lvl="0" indent="0" algn="ctr" defTabSz="1828800" rtl="0" eaLnBrk="1" fontAlgn="auto" latinLnBrk="0" hangingPunct="1">
                        <a:lnSpc>
                          <a:spcPts val="5250"/>
                        </a:lnSpc>
                        <a:spcBef>
                          <a:spcPts val="0"/>
                        </a:spcBef>
                        <a:spcAft>
                          <a:spcPts val="0"/>
                        </a:spcAft>
                        <a:buClrTx/>
                        <a:buSzTx/>
                        <a:buFontTx/>
                        <a:buNone/>
                        <a:tabLst/>
                        <a:defRPr/>
                      </a:pPr>
                      <a:r>
                        <a:rPr lang="en-US" sz="3600" b="1" i="0" u="none" strike="noStrike">
                          <a:solidFill>
                            <a:srgbClr val="000000"/>
                          </a:solidFill>
                          <a:effectLst/>
                          <a:latin typeface="Arial"/>
                        </a:rPr>
                        <a:t>Problem idea 3</a:t>
                      </a: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endParaRPr lang="en-US" sz="3600" b="0" i="0" u="none" strike="noStrike" noProof="0">
                        <a:solidFill>
                          <a:srgbClr val="000000"/>
                        </a:solidFill>
                        <a:effectLst/>
                        <a:latin typeface="Arial"/>
                      </a:endParaRP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endParaRPr lang="en-US" sz="3600" b="0" i="0" u="none" strike="noStrike">
                        <a:solidFill>
                          <a:srgbClr val="000000"/>
                        </a:solidFill>
                        <a:effectLst/>
                        <a:latin typeface="Arial"/>
                      </a:endParaRP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endParaRPr lang="en-US" sz="3600" b="0" i="0" u="none" strike="noStrike">
                        <a:solidFill>
                          <a:srgbClr val="000000"/>
                        </a:solidFill>
                        <a:effectLst/>
                        <a:latin typeface="Arial"/>
                      </a:endParaRPr>
                    </a:p>
                  </a:txBody>
                  <a:tcPr marL="68580" marR="68580">
                    <a:lnL w="9524">
                      <a:solidFill>
                        <a:srgbClr val="000000"/>
                      </a:solidFill>
                    </a:lnL>
                    <a:lnR w="9524">
                      <a:solidFill>
                        <a:srgbClr val="000000"/>
                      </a:solidFill>
                    </a:lnR>
                    <a:lnB w="9524">
                      <a:solidFill>
                        <a:srgbClr val="000000"/>
                      </a:solidFill>
                    </a:lnB>
                    <a:noFill/>
                  </a:tcPr>
                </a:tc>
                <a:tc>
                  <a:txBody>
                    <a:bodyPr/>
                    <a:lstStyle/>
                    <a:p>
                      <a:pPr lvl="0" algn="l">
                        <a:lnSpc>
                          <a:spcPts val="5250"/>
                        </a:lnSpc>
                        <a:buNone/>
                      </a:pPr>
                      <a:endParaRPr lang="en-US" sz="3600" b="0" i="0" u="none" strike="noStrike">
                        <a:solidFill>
                          <a:srgbClr val="000000"/>
                        </a:solidFill>
                        <a:effectLst/>
                        <a:latin typeface="Arial"/>
                      </a:endParaRPr>
                    </a:p>
                  </a:txBody>
                  <a:tcPr marL="68580" marR="68580">
                    <a:lnL w="9524">
                      <a:solidFill>
                        <a:srgbClr val="000000"/>
                      </a:solidFill>
                    </a:lnL>
                    <a:lnR w="9524">
                      <a:solidFill>
                        <a:srgbClr val="000000"/>
                      </a:solidFill>
                    </a:lnR>
                    <a:lnB w="9524">
                      <a:solidFill>
                        <a:srgbClr val="000000"/>
                      </a:solidFill>
                    </a:lnB>
                    <a:noFill/>
                  </a:tcPr>
                </a:tc>
                <a:extLst>
                  <a:ext uri="{0D108BD9-81ED-4DB2-BD59-A6C34878D82A}">
                    <a16:rowId xmlns:a16="http://schemas.microsoft.com/office/drawing/2014/main" val="1377226942"/>
                  </a:ext>
                </a:extLst>
              </a:tr>
            </a:tbl>
          </a:graphicData>
        </a:graphic>
      </p:graphicFrame>
    </p:spTree>
    <p:extLst>
      <p:ext uri="{BB962C8B-B14F-4D97-AF65-F5344CB8AC3E}">
        <p14:creationId xmlns:p14="http://schemas.microsoft.com/office/powerpoint/2010/main" val="236864411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530078-2108-2B33-0A9D-17E276822C1A}"/>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72DCACA8-E95C-87A6-5F65-B3563EF400BE}"/>
              </a:ext>
            </a:extLst>
          </p:cNvPr>
          <p:cNvSpPr/>
          <p:nvPr/>
        </p:nvSpPr>
        <p:spPr>
          <a:xfrm>
            <a:off x="2043696" y="1478435"/>
            <a:ext cx="17190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SWOT Analysis</a:t>
            </a:r>
          </a:p>
        </p:txBody>
      </p:sp>
      <p:sp>
        <p:nvSpPr>
          <p:cNvPr id="5" name="TextBox 4">
            <a:extLst>
              <a:ext uri="{FF2B5EF4-FFF2-40B4-BE49-F238E27FC236}">
                <a16:creationId xmlns:a16="http://schemas.microsoft.com/office/drawing/2014/main" id="{79353395-6948-D8DE-FE80-1354274034A2}"/>
              </a:ext>
            </a:extLst>
          </p:cNvPr>
          <p:cNvSpPr txBox="1"/>
          <p:nvPr/>
        </p:nvSpPr>
        <p:spPr>
          <a:xfrm>
            <a:off x="2028614" y="2755227"/>
            <a:ext cx="22121299"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857250" indent="-857250">
              <a:buFont typeface="Arial"/>
              <a:buChar char="•"/>
            </a:pPr>
            <a:r>
              <a:rPr lang="en-US" sz="6000">
                <a:latin typeface="Arial"/>
                <a:cs typeface="Arial"/>
              </a:rPr>
              <a:t>Pick the top 3 problem ideas identified</a:t>
            </a:r>
            <a:endParaRPr lang="en-US" sz="6000">
              <a:latin typeface="Arial" panose="020B0604020202020204" pitchFamily="34" charset="0"/>
              <a:cs typeface="Arial" panose="020B0604020202020204" pitchFamily="34" charset="0"/>
            </a:endParaRPr>
          </a:p>
          <a:p>
            <a:pPr marL="857250" indent="-857250">
              <a:buFont typeface="Arial"/>
              <a:buChar char="•"/>
            </a:pPr>
            <a:r>
              <a:rPr lang="en-US" sz="6000">
                <a:latin typeface="Arial"/>
                <a:cs typeface="Arial"/>
              </a:rPr>
              <a:t>Do the SWOT analysis as follows for each of these 3 solutions</a:t>
            </a:r>
            <a:endParaRPr lang="en-US" sz="6000" b="0" i="0" u="none" strike="noStrike" cap="none" spc="0" normalizeH="0" baseline="0">
              <a:ln>
                <a:noFill/>
              </a:ln>
              <a:solidFill>
                <a:srgbClr val="000000"/>
              </a:solidFill>
              <a:effectLst/>
              <a:uFillTx/>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E852544D-B6DA-B450-B882-B4A5BA3FC0EB}"/>
              </a:ext>
            </a:extLst>
          </p:cNvPr>
          <p:cNvGraphicFramePr>
            <a:graphicFrameLocks noGrp="1"/>
          </p:cNvGraphicFramePr>
          <p:nvPr>
            <p:extLst>
              <p:ext uri="{D42A27DB-BD31-4B8C-83A1-F6EECF244321}">
                <p14:modId xmlns:p14="http://schemas.microsoft.com/office/powerpoint/2010/main" val="975393926"/>
              </p:ext>
            </p:extLst>
          </p:nvPr>
        </p:nvGraphicFramePr>
        <p:xfrm>
          <a:off x="2043696" y="4899210"/>
          <a:ext cx="21250593" cy="6156198"/>
        </p:xfrm>
        <a:graphic>
          <a:graphicData uri="http://schemas.openxmlformats.org/drawingml/2006/table">
            <a:tbl>
              <a:tblPr bandRow="1">
                <a:tableStyleId>{5940675A-B579-460E-94D1-54222C63F5DA}</a:tableStyleId>
              </a:tblPr>
              <a:tblGrid>
                <a:gridCol w="2962593">
                  <a:extLst>
                    <a:ext uri="{9D8B030D-6E8A-4147-A177-3AD203B41FA5}">
                      <a16:colId xmlns:a16="http://schemas.microsoft.com/office/drawing/2014/main" val="3917652687"/>
                    </a:ext>
                  </a:extLst>
                </a:gridCol>
                <a:gridCol w="4572000">
                  <a:extLst>
                    <a:ext uri="{9D8B030D-6E8A-4147-A177-3AD203B41FA5}">
                      <a16:colId xmlns:a16="http://schemas.microsoft.com/office/drawing/2014/main" val="81345911"/>
                    </a:ext>
                  </a:extLst>
                </a:gridCol>
                <a:gridCol w="4572000">
                  <a:extLst>
                    <a:ext uri="{9D8B030D-6E8A-4147-A177-3AD203B41FA5}">
                      <a16:colId xmlns:a16="http://schemas.microsoft.com/office/drawing/2014/main" val="2075339105"/>
                    </a:ext>
                  </a:extLst>
                </a:gridCol>
                <a:gridCol w="4572000">
                  <a:extLst>
                    <a:ext uri="{9D8B030D-6E8A-4147-A177-3AD203B41FA5}">
                      <a16:colId xmlns:a16="http://schemas.microsoft.com/office/drawing/2014/main" val="544377941"/>
                    </a:ext>
                  </a:extLst>
                </a:gridCol>
                <a:gridCol w="4572000">
                  <a:extLst>
                    <a:ext uri="{9D8B030D-6E8A-4147-A177-3AD203B41FA5}">
                      <a16:colId xmlns:a16="http://schemas.microsoft.com/office/drawing/2014/main" val="1374285997"/>
                    </a:ext>
                  </a:extLst>
                </a:gridCol>
              </a:tblGrid>
              <a:tr h="1294320">
                <a:tc>
                  <a:txBody>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en-US" sz="4800" b="1" i="0" u="none" strike="noStrike" cap="none" spc="0" baseline="0">
                          <a:ln>
                            <a:noFill/>
                          </a:ln>
                          <a:solidFill>
                            <a:schemeClr val="bg1"/>
                          </a:solidFill>
                          <a:uFillTx/>
                          <a:latin typeface="Arial"/>
                          <a:ea typeface="+mn-ea"/>
                          <a:cs typeface="+mn-cs"/>
                        </a:rPr>
                        <a:t> </a:t>
                      </a:r>
                      <a:r>
                        <a:rPr lang="en-US" sz="4800" b="1" i="0" u="none" strike="noStrike">
                          <a:solidFill>
                            <a:srgbClr val="000000"/>
                          </a:solidFill>
                          <a:effectLst/>
                          <a:latin typeface="Arial"/>
                        </a:rPr>
                        <a:t>Problem idea</a:t>
                      </a:r>
                      <a:r>
                        <a:rPr lang="en-US" sz="4800" b="1" i="0" u="none" strike="noStrike" cap="none" spc="0" baseline="0">
                          <a:ln>
                            <a:noFill/>
                          </a:ln>
                          <a:solidFill>
                            <a:schemeClr val="bg1"/>
                          </a:solidFill>
                          <a:uFillTx/>
                          <a:latin typeface="Arial"/>
                          <a:ea typeface="+mn-ea"/>
                          <a:cs typeface="+mn-cs"/>
                        </a:rPr>
                        <a:t> </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tx1"/>
                          </a:solidFill>
                          <a:latin typeface="Arial"/>
                        </a:rPr>
                        <a:t>Strengths</a:t>
                      </a:r>
                    </a:p>
                    <a:p>
                      <a:pPr lvl="0" algn="ctr">
                        <a:buNone/>
                      </a:pPr>
                      <a:r>
                        <a:rPr lang="en-US" sz="4800" b="1" baseline="0">
                          <a:solidFill>
                            <a:schemeClr val="tx1"/>
                          </a:solidFill>
                          <a:latin typeface="Arial"/>
                        </a:rPr>
                        <a:t>(S)</a:t>
                      </a:r>
                    </a:p>
                  </a:txBody>
                  <a:tcPr anchor="ctr">
                    <a:solidFill>
                      <a:srgbClr val="FFC000"/>
                    </a:solidFill>
                  </a:tcPr>
                </a:tc>
                <a:tc>
                  <a:txBody>
                    <a:bodyPr/>
                    <a:lstStyle/>
                    <a:p>
                      <a:pPr marL="0" lvl="0" indent="0" algn="ctr">
                        <a:buNone/>
                      </a:pPr>
                      <a:r>
                        <a:rPr lang="en-US" sz="4800" b="1">
                          <a:solidFill>
                            <a:schemeClr val="tx1"/>
                          </a:solidFill>
                          <a:latin typeface="Arial"/>
                        </a:rPr>
                        <a:t>Weaknesses</a:t>
                      </a:r>
                    </a:p>
                    <a:p>
                      <a:pPr marL="0" lvl="0" indent="0" algn="ctr">
                        <a:buNone/>
                      </a:pPr>
                      <a:r>
                        <a:rPr lang="en-US" sz="4800" b="1">
                          <a:solidFill>
                            <a:schemeClr val="tx1"/>
                          </a:solidFill>
                          <a:latin typeface="Arial"/>
                        </a:rPr>
                        <a:t>(W)</a:t>
                      </a:r>
                      <a:r>
                        <a:rPr lang="en-US" sz="4800" b="1">
                          <a:solidFill>
                            <a:schemeClr val="bg1"/>
                          </a:solidFill>
                          <a:latin typeface="Arial"/>
                        </a:rPr>
                        <a:t> </a:t>
                      </a:r>
                      <a:endParaRPr lang="en-US"/>
                    </a:p>
                  </a:txBody>
                  <a:tcPr anchor="ctr">
                    <a:solidFill>
                      <a:schemeClr val="accent5">
                        <a:lumMod val="60000"/>
                        <a:lumOff val="40000"/>
                      </a:schemeClr>
                    </a:solidFill>
                  </a:tcPr>
                </a:tc>
                <a:tc>
                  <a:txBody>
                    <a:bodyPr/>
                    <a:lstStyle/>
                    <a:p>
                      <a:pPr lvl="0" algn="ctr">
                        <a:buNone/>
                      </a:pPr>
                      <a:r>
                        <a:rPr lang="en-US" sz="4800" b="1">
                          <a:solidFill>
                            <a:schemeClr val="tx1"/>
                          </a:solidFill>
                          <a:latin typeface="Arial"/>
                        </a:rPr>
                        <a:t>Opportunities</a:t>
                      </a:r>
                    </a:p>
                    <a:p>
                      <a:pPr lvl="0" algn="ctr">
                        <a:buNone/>
                      </a:pPr>
                      <a:r>
                        <a:rPr lang="en-US" sz="4800" b="1">
                          <a:solidFill>
                            <a:schemeClr val="tx1"/>
                          </a:solidFill>
                          <a:latin typeface="Arial"/>
                        </a:rPr>
                        <a:t>(O)</a:t>
                      </a:r>
                      <a:endParaRPr lang="en-US">
                        <a:solidFill>
                          <a:schemeClr val="tx1"/>
                        </a:solidFill>
                      </a:endParaRPr>
                    </a:p>
                  </a:txBody>
                  <a:tcPr anchor="ctr">
                    <a:solidFill>
                      <a:schemeClr val="accent6">
                        <a:lumMod val="60000"/>
                        <a:lumOff val="40000"/>
                      </a:schemeClr>
                    </a:solidFill>
                  </a:tcPr>
                </a:tc>
                <a:tc>
                  <a:txBody>
                    <a:bodyPr/>
                    <a:lstStyle/>
                    <a:p>
                      <a:pPr lvl="0" algn="ctr">
                        <a:buNone/>
                      </a:pPr>
                      <a:r>
                        <a:rPr lang="en-US" sz="4800" b="1" baseline="0">
                          <a:solidFill>
                            <a:schemeClr val="tx1"/>
                          </a:solidFill>
                          <a:latin typeface="Arial"/>
                        </a:rPr>
                        <a:t>Threats</a:t>
                      </a:r>
                    </a:p>
                    <a:p>
                      <a:pPr lvl="0" algn="ctr">
                        <a:buNone/>
                      </a:pPr>
                      <a:r>
                        <a:rPr lang="en-US" sz="4800" b="1" baseline="0">
                          <a:solidFill>
                            <a:schemeClr val="tx1"/>
                          </a:solidFill>
                          <a:latin typeface="Arial"/>
                        </a:rPr>
                        <a:t>(T)</a:t>
                      </a:r>
                      <a:endParaRPr lang="en-US">
                        <a:solidFill>
                          <a:schemeClr val="tx1"/>
                        </a:solidFill>
                      </a:endParaRPr>
                    </a:p>
                  </a:txBody>
                  <a:tcPr anchor="ctr">
                    <a:solidFill>
                      <a:srgbClr val="FF0000"/>
                    </a:solidFill>
                  </a:tcPr>
                </a:tc>
                <a:extLst>
                  <a:ext uri="{0D108BD9-81ED-4DB2-BD59-A6C34878D82A}">
                    <a16:rowId xmlns:a16="http://schemas.microsoft.com/office/drawing/2014/main" val="2136606143"/>
                  </a:ext>
                </a:extLst>
              </a:tr>
              <a:tr h="3014859">
                <a:tc>
                  <a:txBody>
                    <a:bodyPr/>
                    <a:lstStyle/>
                    <a:p>
                      <a:pPr algn="ctr" fontAlgn="base">
                        <a:lnSpc>
                          <a:spcPts val="5250"/>
                        </a:lnSpc>
                        <a:buNone/>
                      </a:pPr>
                      <a:r>
                        <a:rPr lang="en-US" sz="3600" b="1" i="0" u="none" strike="noStrike" dirty="0">
                          <a:solidFill>
                            <a:srgbClr val="000000"/>
                          </a:solidFill>
                          <a:effectLst/>
                          <a:latin typeface="Arial"/>
                        </a:rPr>
                        <a:t>Idea 1</a:t>
                      </a:r>
                    </a:p>
                    <a:p>
                      <a:pPr algn="ctr" fontAlgn="base">
                        <a:lnSpc>
                          <a:spcPts val="5250"/>
                        </a:lnSpc>
                        <a:buNone/>
                      </a:pPr>
                      <a:r>
                        <a:rPr lang="en-US" sz="3200" b="0" i="0" u="none" strike="noStrike" dirty="0">
                          <a:solidFill>
                            <a:srgbClr val="000000"/>
                          </a:solidFill>
                          <a:effectLst/>
                          <a:latin typeface="Arial"/>
                        </a:rPr>
                        <a:t>Inefficient lost-and-found management</a:t>
                      </a:r>
                      <a:endParaRPr lang="en-US" sz="3200" b="1"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571500" indent="-571500">
                        <a:buFont typeface="Arial" panose="020B0604020202020204" pitchFamily="34" charset="0"/>
                        <a:buChar char="•"/>
                      </a:pPr>
                      <a:r>
                        <a:rPr lang="en-IN" sz="3200" dirty="0"/>
                        <a:t>Improves organization and item traceability</a:t>
                      </a:r>
                    </a:p>
                    <a:p>
                      <a:pPr marL="571500" indent="-571500">
                        <a:buFont typeface="Arial" panose="020B0604020202020204" pitchFamily="34" charset="0"/>
                        <a:buChar char="•"/>
                      </a:pPr>
                      <a:r>
                        <a:rPr lang="en-IN" sz="3200" dirty="0"/>
                        <a:t>Reduces permanent losses and student frustration</a:t>
                      </a:r>
                    </a:p>
                    <a:p>
                      <a:pPr marL="571500" indent="-571500">
                        <a:buFont typeface="Arial" panose="020B0604020202020204" pitchFamily="34" charset="0"/>
                        <a:buChar char="•"/>
                      </a:pPr>
                      <a:r>
                        <a:rPr lang="en-IN" sz="3200" dirty="0"/>
                        <a:t>Scalable via app/web platform</a:t>
                      </a:r>
                    </a:p>
                    <a:p>
                      <a:pPr marL="571500" indent="-571500">
                        <a:buFont typeface="Arial" panose="020B0604020202020204" pitchFamily="34" charset="0"/>
                        <a:buChar char="•"/>
                      </a:pPr>
                      <a:r>
                        <a:rPr lang="en-IN" sz="3200" dirty="0"/>
                        <a:t>Builds trust in campus services</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Requires initial tech development and maintenance</a:t>
                      </a:r>
                    </a:p>
                    <a:p>
                      <a:pPr marL="457200" indent="-457200">
                        <a:buFont typeface="Arial" panose="020B0604020202020204" pitchFamily="34" charset="0"/>
                        <a:buChar char="•"/>
                      </a:pPr>
                      <a:r>
                        <a:rPr lang="en-IN" sz="3200" dirty="0"/>
                        <a:t>Needs consistent adoption by staff/students</a:t>
                      </a:r>
                    </a:p>
                    <a:p>
                      <a:pPr marL="457200" indent="-457200">
                        <a:buFont typeface="Arial" panose="020B0604020202020204" pitchFamily="34" charset="0"/>
                        <a:buChar char="•"/>
                      </a:pPr>
                      <a:r>
                        <a:rPr lang="en-IN" sz="3200" dirty="0"/>
                        <a:t>Risk of inaccurate reporting or misuse</a:t>
                      </a:r>
                    </a:p>
                    <a:p>
                      <a:pPr marL="457200" indent="-457200" algn="l" fontAlgn="base">
                        <a:lnSpc>
                          <a:spcPts val="5250"/>
                        </a:lnSpc>
                        <a:buFont typeface="Arial" panose="020B0604020202020204" pitchFamily="34" charset="0"/>
                        <a:buChar char="•"/>
                      </a:pPr>
                      <a:endParaRPr lang="en-US" sz="3200" b="0"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Integrate with student ID or campus app</a:t>
                      </a:r>
                    </a:p>
                    <a:p>
                      <a:pPr marL="457200" indent="-457200">
                        <a:buFont typeface="Arial" panose="020B0604020202020204" pitchFamily="34" charset="0"/>
                        <a:buChar char="•"/>
                      </a:pPr>
                      <a:r>
                        <a:rPr lang="en-IN" sz="3200" dirty="0"/>
                        <a:t>Add AI tagging (image recognition for items)</a:t>
                      </a:r>
                    </a:p>
                    <a:p>
                      <a:pPr marL="457200" indent="-457200">
                        <a:buFont typeface="Arial" panose="020B0604020202020204" pitchFamily="34" charset="0"/>
                        <a:buChar char="•"/>
                      </a:pPr>
                      <a:r>
                        <a:rPr lang="en-IN" sz="3200" dirty="0"/>
                        <a:t>Data insights on loss hotspots</a:t>
                      </a:r>
                    </a:p>
                    <a:p>
                      <a:pPr marL="457200" indent="-457200">
                        <a:buFont typeface="Arial" panose="020B0604020202020204" pitchFamily="34" charset="0"/>
                        <a:buChar char="•"/>
                      </a:pPr>
                      <a:r>
                        <a:rPr lang="en-IN" sz="3200" dirty="0"/>
                        <a:t>Full smart-campus feature</a:t>
                      </a:r>
                    </a:p>
                    <a:p>
                      <a:pPr algn="l" fontAlgn="base">
                        <a:lnSpc>
                          <a:spcPts val="5250"/>
                        </a:lnSpc>
                        <a:buNone/>
                      </a:pPr>
                      <a:endParaRPr lang="en-US" sz="3600" b="0"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Low engagement =&gt; system becomes inactive</a:t>
                      </a:r>
                    </a:p>
                    <a:p>
                      <a:pPr marL="457200" indent="-457200">
                        <a:buFont typeface="Arial" panose="020B0604020202020204" pitchFamily="34" charset="0"/>
                        <a:buChar char="•"/>
                      </a:pPr>
                      <a:r>
                        <a:rPr lang="en-IN" sz="3200" dirty="0"/>
                        <a:t>Privacy concerns</a:t>
                      </a:r>
                    </a:p>
                    <a:p>
                      <a:pPr marL="457200" indent="-457200">
                        <a:buFont typeface="Arial" panose="020B0604020202020204" pitchFamily="34" charset="0"/>
                        <a:buChar char="•"/>
                      </a:pPr>
                      <a:r>
                        <a:rPr lang="en-IN" sz="3200" dirty="0"/>
                        <a:t>Operational resistance from existing workflows</a:t>
                      </a:r>
                    </a:p>
                    <a:p>
                      <a:pPr algn="l" fontAlgn="base">
                        <a:lnSpc>
                          <a:spcPts val="5250"/>
                        </a:lnSpc>
                        <a:buNone/>
                      </a:pPr>
                      <a:endParaRPr lang="en-US" sz="3200" b="0"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4158352676"/>
                  </a:ext>
                </a:extLst>
              </a:tr>
            </a:tbl>
          </a:graphicData>
        </a:graphic>
      </p:graphicFrame>
    </p:spTree>
    <p:extLst>
      <p:ext uri="{BB962C8B-B14F-4D97-AF65-F5344CB8AC3E}">
        <p14:creationId xmlns:p14="http://schemas.microsoft.com/office/powerpoint/2010/main" val="328737035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528383-7B69-710D-BFAE-47D3A6B2843F}"/>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A55EC4F5-2AB9-9D22-05FC-715A235A789F}"/>
              </a:ext>
            </a:extLst>
          </p:cNvPr>
          <p:cNvSpPr/>
          <p:nvPr/>
        </p:nvSpPr>
        <p:spPr>
          <a:xfrm>
            <a:off x="2043696" y="1478435"/>
            <a:ext cx="17190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SWOT Analysis</a:t>
            </a:r>
          </a:p>
        </p:txBody>
      </p:sp>
      <p:sp>
        <p:nvSpPr>
          <p:cNvPr id="5" name="TextBox 4">
            <a:extLst>
              <a:ext uri="{FF2B5EF4-FFF2-40B4-BE49-F238E27FC236}">
                <a16:creationId xmlns:a16="http://schemas.microsoft.com/office/drawing/2014/main" id="{9CD57246-6D90-D8EF-9D47-EBA87D1AF16F}"/>
              </a:ext>
            </a:extLst>
          </p:cNvPr>
          <p:cNvSpPr txBox="1"/>
          <p:nvPr/>
        </p:nvSpPr>
        <p:spPr>
          <a:xfrm>
            <a:off x="2028614" y="2755227"/>
            <a:ext cx="22121299"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857250" indent="-857250">
              <a:buFont typeface="Arial"/>
              <a:buChar char="•"/>
            </a:pPr>
            <a:r>
              <a:rPr lang="en-US" sz="6000">
                <a:latin typeface="Arial"/>
                <a:cs typeface="Arial"/>
              </a:rPr>
              <a:t>Pick the top 3 problem ideas identified</a:t>
            </a:r>
            <a:endParaRPr lang="en-US" sz="6000">
              <a:latin typeface="Arial" panose="020B0604020202020204" pitchFamily="34" charset="0"/>
              <a:cs typeface="Arial" panose="020B0604020202020204" pitchFamily="34" charset="0"/>
            </a:endParaRPr>
          </a:p>
          <a:p>
            <a:pPr marL="857250" indent="-857250">
              <a:buFont typeface="Arial"/>
              <a:buChar char="•"/>
            </a:pPr>
            <a:r>
              <a:rPr lang="en-US" sz="6000">
                <a:latin typeface="Arial"/>
                <a:cs typeface="Arial"/>
              </a:rPr>
              <a:t>Do the SWOT analysis as follows for each of these 3 solutions</a:t>
            </a:r>
            <a:endParaRPr lang="en-US" sz="6000" b="0" i="0" u="none" strike="noStrike" cap="none" spc="0" normalizeH="0" baseline="0">
              <a:ln>
                <a:noFill/>
              </a:ln>
              <a:solidFill>
                <a:srgbClr val="000000"/>
              </a:solidFill>
              <a:effectLst/>
              <a:uFillTx/>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9CCABE03-CB81-4C43-B87D-584B9C9865F8}"/>
              </a:ext>
            </a:extLst>
          </p:cNvPr>
          <p:cNvGraphicFramePr>
            <a:graphicFrameLocks noGrp="1"/>
          </p:cNvGraphicFramePr>
          <p:nvPr>
            <p:extLst>
              <p:ext uri="{D42A27DB-BD31-4B8C-83A1-F6EECF244321}">
                <p14:modId xmlns:p14="http://schemas.microsoft.com/office/powerpoint/2010/main" val="3989173617"/>
              </p:ext>
            </p:extLst>
          </p:nvPr>
        </p:nvGraphicFramePr>
        <p:xfrm>
          <a:off x="2043696" y="4899210"/>
          <a:ext cx="21250593" cy="6522720"/>
        </p:xfrm>
        <a:graphic>
          <a:graphicData uri="http://schemas.openxmlformats.org/drawingml/2006/table">
            <a:tbl>
              <a:tblPr bandRow="1">
                <a:tableStyleId>{5940675A-B579-460E-94D1-54222C63F5DA}</a:tableStyleId>
              </a:tblPr>
              <a:tblGrid>
                <a:gridCol w="2962593">
                  <a:extLst>
                    <a:ext uri="{9D8B030D-6E8A-4147-A177-3AD203B41FA5}">
                      <a16:colId xmlns:a16="http://schemas.microsoft.com/office/drawing/2014/main" val="3917652687"/>
                    </a:ext>
                  </a:extLst>
                </a:gridCol>
                <a:gridCol w="4572000">
                  <a:extLst>
                    <a:ext uri="{9D8B030D-6E8A-4147-A177-3AD203B41FA5}">
                      <a16:colId xmlns:a16="http://schemas.microsoft.com/office/drawing/2014/main" val="81345911"/>
                    </a:ext>
                  </a:extLst>
                </a:gridCol>
                <a:gridCol w="4572000">
                  <a:extLst>
                    <a:ext uri="{9D8B030D-6E8A-4147-A177-3AD203B41FA5}">
                      <a16:colId xmlns:a16="http://schemas.microsoft.com/office/drawing/2014/main" val="2075339105"/>
                    </a:ext>
                  </a:extLst>
                </a:gridCol>
                <a:gridCol w="4572000">
                  <a:extLst>
                    <a:ext uri="{9D8B030D-6E8A-4147-A177-3AD203B41FA5}">
                      <a16:colId xmlns:a16="http://schemas.microsoft.com/office/drawing/2014/main" val="544377941"/>
                    </a:ext>
                  </a:extLst>
                </a:gridCol>
                <a:gridCol w="4572000">
                  <a:extLst>
                    <a:ext uri="{9D8B030D-6E8A-4147-A177-3AD203B41FA5}">
                      <a16:colId xmlns:a16="http://schemas.microsoft.com/office/drawing/2014/main" val="1374285997"/>
                    </a:ext>
                  </a:extLst>
                </a:gridCol>
              </a:tblGrid>
              <a:tr h="1294320">
                <a:tc>
                  <a:txBody>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en-US" sz="4800" b="1" i="0" u="none" strike="noStrike" cap="none" spc="0" baseline="0">
                          <a:ln>
                            <a:noFill/>
                          </a:ln>
                          <a:solidFill>
                            <a:schemeClr val="bg1"/>
                          </a:solidFill>
                          <a:uFillTx/>
                          <a:latin typeface="Arial"/>
                          <a:ea typeface="+mn-ea"/>
                          <a:cs typeface="+mn-cs"/>
                        </a:rPr>
                        <a:t> </a:t>
                      </a:r>
                      <a:r>
                        <a:rPr lang="en-US" sz="4800" b="1" i="0" u="none" strike="noStrike">
                          <a:solidFill>
                            <a:srgbClr val="000000"/>
                          </a:solidFill>
                          <a:effectLst/>
                          <a:latin typeface="Arial"/>
                        </a:rPr>
                        <a:t>Problem idea</a:t>
                      </a:r>
                      <a:r>
                        <a:rPr lang="en-US" sz="4800" b="1" i="0" u="none" strike="noStrike" cap="none" spc="0" baseline="0">
                          <a:ln>
                            <a:noFill/>
                          </a:ln>
                          <a:solidFill>
                            <a:schemeClr val="bg1"/>
                          </a:solidFill>
                          <a:uFillTx/>
                          <a:latin typeface="Arial"/>
                          <a:ea typeface="+mn-ea"/>
                          <a:cs typeface="+mn-cs"/>
                        </a:rPr>
                        <a:t> </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tx1"/>
                          </a:solidFill>
                          <a:latin typeface="Arial"/>
                        </a:rPr>
                        <a:t>Strengths</a:t>
                      </a:r>
                    </a:p>
                    <a:p>
                      <a:pPr lvl="0" algn="ctr">
                        <a:buNone/>
                      </a:pPr>
                      <a:r>
                        <a:rPr lang="en-US" sz="4800" b="1" baseline="0">
                          <a:solidFill>
                            <a:schemeClr val="tx1"/>
                          </a:solidFill>
                          <a:latin typeface="Arial"/>
                        </a:rPr>
                        <a:t>(S)</a:t>
                      </a:r>
                    </a:p>
                  </a:txBody>
                  <a:tcPr anchor="ctr">
                    <a:solidFill>
                      <a:srgbClr val="FFC000"/>
                    </a:solidFill>
                  </a:tcPr>
                </a:tc>
                <a:tc>
                  <a:txBody>
                    <a:bodyPr/>
                    <a:lstStyle/>
                    <a:p>
                      <a:pPr marL="0" lvl="0" indent="0" algn="ctr">
                        <a:buNone/>
                      </a:pPr>
                      <a:r>
                        <a:rPr lang="en-US" sz="4800" b="1">
                          <a:solidFill>
                            <a:schemeClr val="tx1"/>
                          </a:solidFill>
                          <a:latin typeface="Arial"/>
                        </a:rPr>
                        <a:t>Weaknesses</a:t>
                      </a:r>
                    </a:p>
                    <a:p>
                      <a:pPr marL="0" lvl="0" indent="0" algn="ctr">
                        <a:buNone/>
                      </a:pPr>
                      <a:r>
                        <a:rPr lang="en-US" sz="4800" b="1">
                          <a:solidFill>
                            <a:schemeClr val="tx1"/>
                          </a:solidFill>
                          <a:latin typeface="Arial"/>
                        </a:rPr>
                        <a:t>(W)</a:t>
                      </a:r>
                      <a:r>
                        <a:rPr lang="en-US" sz="4800" b="1">
                          <a:solidFill>
                            <a:schemeClr val="bg1"/>
                          </a:solidFill>
                          <a:latin typeface="Arial"/>
                        </a:rPr>
                        <a:t> </a:t>
                      </a:r>
                      <a:endParaRPr lang="en-US"/>
                    </a:p>
                  </a:txBody>
                  <a:tcPr anchor="ctr">
                    <a:solidFill>
                      <a:schemeClr val="accent5">
                        <a:lumMod val="60000"/>
                        <a:lumOff val="40000"/>
                      </a:schemeClr>
                    </a:solidFill>
                  </a:tcPr>
                </a:tc>
                <a:tc>
                  <a:txBody>
                    <a:bodyPr/>
                    <a:lstStyle/>
                    <a:p>
                      <a:pPr lvl="0" algn="ctr">
                        <a:buNone/>
                      </a:pPr>
                      <a:r>
                        <a:rPr lang="en-US" sz="4800" b="1">
                          <a:solidFill>
                            <a:schemeClr val="tx1"/>
                          </a:solidFill>
                          <a:latin typeface="Arial"/>
                        </a:rPr>
                        <a:t>Opportunities</a:t>
                      </a:r>
                    </a:p>
                    <a:p>
                      <a:pPr lvl="0" algn="ctr">
                        <a:buNone/>
                      </a:pPr>
                      <a:r>
                        <a:rPr lang="en-US" sz="4800" b="1">
                          <a:solidFill>
                            <a:schemeClr val="tx1"/>
                          </a:solidFill>
                          <a:latin typeface="Arial"/>
                        </a:rPr>
                        <a:t>(O)</a:t>
                      </a:r>
                      <a:endParaRPr lang="en-US">
                        <a:solidFill>
                          <a:schemeClr val="tx1"/>
                        </a:solidFill>
                      </a:endParaRPr>
                    </a:p>
                  </a:txBody>
                  <a:tcPr anchor="ctr">
                    <a:solidFill>
                      <a:schemeClr val="accent6">
                        <a:lumMod val="60000"/>
                        <a:lumOff val="40000"/>
                      </a:schemeClr>
                    </a:solidFill>
                  </a:tcPr>
                </a:tc>
                <a:tc>
                  <a:txBody>
                    <a:bodyPr/>
                    <a:lstStyle/>
                    <a:p>
                      <a:pPr lvl="0" algn="ctr">
                        <a:buNone/>
                      </a:pPr>
                      <a:r>
                        <a:rPr lang="en-US" sz="4800" b="1" baseline="0">
                          <a:solidFill>
                            <a:schemeClr val="tx1"/>
                          </a:solidFill>
                          <a:latin typeface="Arial"/>
                        </a:rPr>
                        <a:t>Threats</a:t>
                      </a:r>
                    </a:p>
                    <a:p>
                      <a:pPr lvl="0" algn="ctr">
                        <a:buNone/>
                      </a:pPr>
                      <a:r>
                        <a:rPr lang="en-US" sz="4800" b="1" baseline="0">
                          <a:solidFill>
                            <a:schemeClr val="tx1"/>
                          </a:solidFill>
                          <a:latin typeface="Arial"/>
                        </a:rPr>
                        <a:t>(T)</a:t>
                      </a:r>
                      <a:endParaRPr lang="en-US">
                        <a:solidFill>
                          <a:schemeClr val="tx1"/>
                        </a:solidFill>
                      </a:endParaRPr>
                    </a:p>
                  </a:txBody>
                  <a:tcPr anchor="ctr">
                    <a:solidFill>
                      <a:srgbClr val="FF0000"/>
                    </a:solidFill>
                  </a:tcPr>
                </a:tc>
                <a:extLst>
                  <a:ext uri="{0D108BD9-81ED-4DB2-BD59-A6C34878D82A}">
                    <a16:rowId xmlns:a16="http://schemas.microsoft.com/office/drawing/2014/main" val="2136606143"/>
                  </a:ext>
                </a:extLst>
              </a:tr>
              <a:tr h="3014859">
                <a:tc>
                  <a:txBody>
                    <a:bodyPr/>
                    <a:lstStyle/>
                    <a:p>
                      <a:pPr algn="ctr" fontAlgn="base">
                        <a:lnSpc>
                          <a:spcPts val="5250"/>
                        </a:lnSpc>
                        <a:buNone/>
                      </a:pPr>
                      <a:r>
                        <a:rPr lang="en-US" sz="3600" b="1" i="0" u="none" strike="noStrike" dirty="0">
                          <a:solidFill>
                            <a:srgbClr val="000000"/>
                          </a:solidFill>
                          <a:effectLst/>
                          <a:latin typeface="Arial"/>
                        </a:rPr>
                        <a:t>Idea 2</a:t>
                      </a:r>
                    </a:p>
                    <a:p>
                      <a:pPr marL="0" marR="0" lvl="0" indent="0" algn="ctr" defTabSz="1828800" rtl="0" eaLnBrk="1" fontAlgn="base" latinLnBrk="0" hangingPunct="1">
                        <a:lnSpc>
                          <a:spcPct val="100000"/>
                        </a:lnSpc>
                        <a:spcBef>
                          <a:spcPts val="0"/>
                        </a:spcBef>
                        <a:spcAft>
                          <a:spcPts val="0"/>
                        </a:spcAft>
                        <a:buClrTx/>
                        <a:buSzTx/>
                        <a:buFontTx/>
                        <a:buNone/>
                        <a:tabLst/>
                        <a:defRPr/>
                      </a:pPr>
                      <a:r>
                        <a:rPr lang="en-US" sz="3200" b="0" i="0" u="none" strike="noStrike" dirty="0">
                          <a:solidFill>
                            <a:srgbClr val="000000"/>
                          </a:solidFill>
                          <a:effectLst/>
                          <a:latin typeface="Arial"/>
                        </a:rPr>
                        <a:t>Lack of inclusive &amp; dignified campus infrastructure</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High social impact Aligns with inclusivity and SDG goals (e.g. 10,4,3)</a:t>
                      </a:r>
                    </a:p>
                    <a:p>
                      <a:pPr marL="457200" indent="-457200">
                        <a:buFont typeface="Arial" panose="020B0604020202020204" pitchFamily="34" charset="0"/>
                        <a:buChar char="•"/>
                      </a:pPr>
                      <a:r>
                        <a:rPr lang="en-IN" sz="3200" dirty="0"/>
                        <a:t>Benefits multiple stakeholders (students, staff, visitors)</a:t>
                      </a:r>
                    </a:p>
                    <a:p>
                      <a:pPr marL="457200" indent="-457200">
                        <a:buFont typeface="Arial" panose="020B0604020202020204" pitchFamily="34" charset="0"/>
                        <a:buChar char="•"/>
                      </a:pPr>
                      <a:r>
                        <a:rPr lang="en-IN" sz="3200" dirty="0"/>
                        <a:t>Visible, tangible improvements</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High infrastructure cost</a:t>
                      </a:r>
                    </a:p>
                    <a:p>
                      <a:pPr marL="457200" indent="-457200">
                        <a:buFont typeface="Arial" panose="020B0604020202020204" pitchFamily="34" charset="0"/>
                        <a:buChar char="•"/>
                      </a:pPr>
                      <a:r>
                        <a:rPr lang="en-IN" sz="3200" dirty="0"/>
                        <a:t>Implementation across multiple buildings is slow</a:t>
                      </a:r>
                    </a:p>
                    <a:p>
                      <a:pPr marL="457200" indent="-457200">
                        <a:buFont typeface="Arial" panose="020B0604020202020204" pitchFamily="34" charset="0"/>
                        <a:buChar char="•"/>
                      </a:pPr>
                      <a:r>
                        <a:rPr lang="en-IN" sz="3200" dirty="0"/>
                        <a:t>Requires coordination with facilities management (SL)</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Funding for accessibility initiatives</a:t>
                      </a:r>
                    </a:p>
                    <a:p>
                      <a:pPr marL="457200" indent="-457200">
                        <a:buFont typeface="Arial" panose="020B0604020202020204" pitchFamily="34" charset="0"/>
                        <a:buChar char="•"/>
                      </a:pPr>
                      <a:r>
                        <a:rPr lang="en-IN" sz="3200" dirty="0"/>
                        <a:t>Improves institutional reputation</a:t>
                      </a:r>
                    </a:p>
                    <a:p>
                      <a:pPr marL="457200" indent="-457200">
                        <a:buFont typeface="Arial" panose="020B0604020202020204" pitchFamily="34" charset="0"/>
                        <a:buChar char="•"/>
                      </a:pPr>
                      <a:r>
                        <a:rPr lang="en-IN" sz="3200" dirty="0"/>
                        <a:t>Student-led advocacy momentum</a:t>
                      </a:r>
                    </a:p>
                    <a:p>
                      <a:pPr marL="457200" indent="-457200" algn="l" fontAlgn="base">
                        <a:lnSpc>
                          <a:spcPts val="5250"/>
                        </a:lnSpc>
                        <a:buFont typeface="Arial" panose="020B0604020202020204" pitchFamily="34" charset="0"/>
                        <a:buChar char="•"/>
                      </a:pPr>
                      <a:endParaRPr lang="en-US" sz="3200" b="0"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Budget constraints delaying execution</a:t>
                      </a:r>
                    </a:p>
                    <a:p>
                      <a:pPr marL="457200" indent="-457200">
                        <a:buFont typeface="Arial" panose="020B0604020202020204" pitchFamily="34" charset="0"/>
                        <a:buChar char="•"/>
                      </a:pPr>
                      <a:r>
                        <a:rPr lang="en-IN" sz="3200" dirty="0"/>
                        <a:t>Vendor quality issues</a:t>
                      </a:r>
                    </a:p>
                    <a:p>
                      <a:pPr marL="457200" indent="-457200">
                        <a:buFont typeface="Arial" panose="020B0604020202020204" pitchFamily="34" charset="0"/>
                        <a:buChar char="•"/>
                      </a:pPr>
                      <a:r>
                        <a:rPr lang="en-IN" sz="3200" dirty="0"/>
                        <a:t>Poor maintenance over time</a:t>
                      </a:r>
                    </a:p>
                    <a:p>
                      <a:pPr algn="l" fontAlgn="base">
                        <a:lnSpc>
                          <a:spcPts val="5250"/>
                        </a:lnSpc>
                        <a:buNone/>
                      </a:pPr>
                      <a:endParaRPr lang="en-US" sz="3200" b="0" i="0" u="none" strike="noStrike" dirty="0">
                        <a:solidFill>
                          <a:srgbClr val="000000"/>
                        </a:solidFill>
                        <a:effectLst/>
                        <a:latin typeface="Arial"/>
                      </a:endParaRP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4158352676"/>
                  </a:ext>
                </a:extLst>
              </a:tr>
            </a:tbl>
          </a:graphicData>
        </a:graphic>
      </p:graphicFrame>
    </p:spTree>
    <p:extLst>
      <p:ext uri="{BB962C8B-B14F-4D97-AF65-F5344CB8AC3E}">
        <p14:creationId xmlns:p14="http://schemas.microsoft.com/office/powerpoint/2010/main" val="35775379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8FF479-86A8-0F95-4197-57124E5D38B2}"/>
            </a:ext>
          </a:extLst>
        </p:cNvPr>
        <p:cNvGrpSpPr/>
        <p:nvPr/>
      </p:nvGrpSpPr>
      <p:grpSpPr>
        <a:xfrm>
          <a:off x="0" y="0"/>
          <a:ext cx="0" cy="0"/>
          <a:chOff x="0" y="0"/>
          <a:chExt cx="0" cy="0"/>
        </a:xfrm>
      </p:grpSpPr>
      <p:sp>
        <p:nvSpPr>
          <p:cNvPr id="31" name="Shape 31">
            <a:extLst>
              <a:ext uri="{FF2B5EF4-FFF2-40B4-BE49-F238E27FC236}">
                <a16:creationId xmlns:a16="http://schemas.microsoft.com/office/drawing/2014/main" id="{B371348C-0BBF-33D6-8442-C025CD538B24}"/>
              </a:ext>
            </a:extLst>
          </p:cNvPr>
          <p:cNvSpPr/>
          <p:nvPr/>
        </p:nvSpPr>
        <p:spPr>
          <a:xfrm>
            <a:off x="2043696" y="1478435"/>
            <a:ext cx="17190141" cy="162399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lstStyle>
            <a:lvl1pPr algn="l">
              <a:defRPr sz="8000">
                <a:solidFill>
                  <a:srgbClr val="008A8B"/>
                </a:solidFill>
                <a:latin typeface="Arial"/>
                <a:ea typeface="Arial"/>
                <a:cs typeface="Arial"/>
                <a:sym typeface="Arial"/>
              </a:defRPr>
            </a:lvl1pPr>
          </a:lstStyle>
          <a:p>
            <a:r>
              <a:rPr lang="en-US"/>
              <a:t>SWOT Analysis</a:t>
            </a:r>
          </a:p>
        </p:txBody>
      </p:sp>
      <p:sp>
        <p:nvSpPr>
          <p:cNvPr id="5" name="TextBox 4">
            <a:extLst>
              <a:ext uri="{FF2B5EF4-FFF2-40B4-BE49-F238E27FC236}">
                <a16:creationId xmlns:a16="http://schemas.microsoft.com/office/drawing/2014/main" id="{A191C2F9-73BE-1D9F-B099-B9EFAB502339}"/>
              </a:ext>
            </a:extLst>
          </p:cNvPr>
          <p:cNvSpPr txBox="1"/>
          <p:nvPr/>
        </p:nvSpPr>
        <p:spPr>
          <a:xfrm>
            <a:off x="2028614" y="2755227"/>
            <a:ext cx="22121299"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857250" indent="-857250">
              <a:buFont typeface="Arial"/>
              <a:buChar char="•"/>
            </a:pPr>
            <a:r>
              <a:rPr lang="en-US" sz="6000">
                <a:latin typeface="Arial"/>
                <a:cs typeface="Arial"/>
              </a:rPr>
              <a:t>Pick the top 3 problem ideas identified</a:t>
            </a:r>
            <a:endParaRPr lang="en-US" sz="6000">
              <a:latin typeface="Arial" panose="020B0604020202020204" pitchFamily="34" charset="0"/>
              <a:cs typeface="Arial" panose="020B0604020202020204" pitchFamily="34" charset="0"/>
            </a:endParaRPr>
          </a:p>
          <a:p>
            <a:pPr marL="857250" indent="-857250">
              <a:buFont typeface="Arial"/>
              <a:buChar char="•"/>
            </a:pPr>
            <a:r>
              <a:rPr lang="en-US" sz="6000">
                <a:latin typeface="Arial"/>
                <a:cs typeface="Arial"/>
              </a:rPr>
              <a:t>Do the SWOT analysis as follows for each of these 3 solutions</a:t>
            </a:r>
            <a:endParaRPr lang="en-US" sz="6000" b="0" i="0" u="none" strike="noStrike" cap="none" spc="0" normalizeH="0" baseline="0">
              <a:ln>
                <a:noFill/>
              </a:ln>
              <a:solidFill>
                <a:srgbClr val="000000"/>
              </a:solidFill>
              <a:effectLst/>
              <a:uFillTx/>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B17B6B25-73AD-C514-30EF-D0C21FEAD5EE}"/>
              </a:ext>
            </a:extLst>
          </p:cNvPr>
          <p:cNvGraphicFramePr>
            <a:graphicFrameLocks noGrp="1"/>
          </p:cNvGraphicFramePr>
          <p:nvPr>
            <p:extLst>
              <p:ext uri="{D42A27DB-BD31-4B8C-83A1-F6EECF244321}">
                <p14:modId xmlns:p14="http://schemas.microsoft.com/office/powerpoint/2010/main" val="2303755424"/>
              </p:ext>
            </p:extLst>
          </p:nvPr>
        </p:nvGraphicFramePr>
        <p:xfrm>
          <a:off x="2043696" y="4899210"/>
          <a:ext cx="21250593" cy="6522720"/>
        </p:xfrm>
        <a:graphic>
          <a:graphicData uri="http://schemas.openxmlformats.org/drawingml/2006/table">
            <a:tbl>
              <a:tblPr bandRow="1">
                <a:tableStyleId>{5940675A-B579-460E-94D1-54222C63F5DA}</a:tableStyleId>
              </a:tblPr>
              <a:tblGrid>
                <a:gridCol w="2962593">
                  <a:extLst>
                    <a:ext uri="{9D8B030D-6E8A-4147-A177-3AD203B41FA5}">
                      <a16:colId xmlns:a16="http://schemas.microsoft.com/office/drawing/2014/main" val="3917652687"/>
                    </a:ext>
                  </a:extLst>
                </a:gridCol>
                <a:gridCol w="4572000">
                  <a:extLst>
                    <a:ext uri="{9D8B030D-6E8A-4147-A177-3AD203B41FA5}">
                      <a16:colId xmlns:a16="http://schemas.microsoft.com/office/drawing/2014/main" val="81345911"/>
                    </a:ext>
                  </a:extLst>
                </a:gridCol>
                <a:gridCol w="4572000">
                  <a:extLst>
                    <a:ext uri="{9D8B030D-6E8A-4147-A177-3AD203B41FA5}">
                      <a16:colId xmlns:a16="http://schemas.microsoft.com/office/drawing/2014/main" val="2075339105"/>
                    </a:ext>
                  </a:extLst>
                </a:gridCol>
                <a:gridCol w="4572000">
                  <a:extLst>
                    <a:ext uri="{9D8B030D-6E8A-4147-A177-3AD203B41FA5}">
                      <a16:colId xmlns:a16="http://schemas.microsoft.com/office/drawing/2014/main" val="544377941"/>
                    </a:ext>
                  </a:extLst>
                </a:gridCol>
                <a:gridCol w="4572000">
                  <a:extLst>
                    <a:ext uri="{9D8B030D-6E8A-4147-A177-3AD203B41FA5}">
                      <a16:colId xmlns:a16="http://schemas.microsoft.com/office/drawing/2014/main" val="1374285997"/>
                    </a:ext>
                  </a:extLst>
                </a:gridCol>
              </a:tblGrid>
              <a:tr h="1294320">
                <a:tc>
                  <a:txBody>
                    <a:bodyPr/>
                    <a:lstStyle/>
                    <a:p>
                      <a:pPr marL="0" marR="0" lvl="0" indent="0" algn="ctr" defTabSz="1828800" rtl="0" eaLnBrk="1" fontAlgn="auto" latinLnBrk="0" hangingPunct="1">
                        <a:lnSpc>
                          <a:spcPct val="100000"/>
                        </a:lnSpc>
                        <a:spcBef>
                          <a:spcPts val="0"/>
                        </a:spcBef>
                        <a:spcAft>
                          <a:spcPts val="0"/>
                        </a:spcAft>
                        <a:buClrTx/>
                        <a:buSzTx/>
                        <a:buFontTx/>
                        <a:buNone/>
                        <a:tabLst/>
                        <a:defRPr/>
                      </a:pPr>
                      <a:r>
                        <a:rPr lang="en-US" sz="4800" b="1" i="0" u="none" strike="noStrike" cap="none" spc="0" baseline="0">
                          <a:ln>
                            <a:noFill/>
                          </a:ln>
                          <a:solidFill>
                            <a:schemeClr val="bg1"/>
                          </a:solidFill>
                          <a:uFillTx/>
                          <a:latin typeface="Arial"/>
                          <a:ea typeface="+mn-ea"/>
                          <a:cs typeface="+mn-cs"/>
                        </a:rPr>
                        <a:t> </a:t>
                      </a:r>
                      <a:r>
                        <a:rPr lang="en-US" sz="4800" b="1" i="0" u="none" strike="noStrike">
                          <a:solidFill>
                            <a:srgbClr val="000000"/>
                          </a:solidFill>
                          <a:effectLst/>
                          <a:latin typeface="Arial"/>
                        </a:rPr>
                        <a:t>Problem idea</a:t>
                      </a:r>
                      <a:r>
                        <a:rPr lang="en-US" sz="4800" b="1" i="0" u="none" strike="noStrike" cap="none" spc="0" baseline="0">
                          <a:ln>
                            <a:noFill/>
                          </a:ln>
                          <a:solidFill>
                            <a:schemeClr val="bg1"/>
                          </a:solidFill>
                          <a:uFillTx/>
                          <a:latin typeface="Arial"/>
                          <a:ea typeface="+mn-ea"/>
                          <a:cs typeface="+mn-cs"/>
                        </a:rPr>
                        <a:t> </a:t>
                      </a:r>
                      <a:endParaRPr lang="en-US" sz="4800" b="1" i="0" u="none" strike="noStrike" cap="none" spc="0" baseline="0">
                        <a:ln>
                          <a:noFill/>
                        </a:ln>
                        <a:solidFill>
                          <a:schemeClr val="bg1"/>
                        </a:solidFill>
                        <a:uFillTx/>
                        <a:latin typeface="Arial"/>
                        <a:ea typeface="+mn-ea"/>
                        <a:cs typeface="+mn-cs"/>
                        <a:sym typeface="Helvetica Light"/>
                      </a:endParaRPr>
                    </a:p>
                  </a:txBody>
                  <a:tcPr anchor="ctr">
                    <a:solidFill>
                      <a:srgbClr val="008A8B"/>
                    </a:solidFill>
                  </a:tcPr>
                </a:tc>
                <a:tc>
                  <a:txBody>
                    <a:bodyPr/>
                    <a:lstStyle/>
                    <a:p>
                      <a:pPr lvl="0" algn="ctr">
                        <a:buNone/>
                      </a:pPr>
                      <a:r>
                        <a:rPr lang="en-US" sz="4800" b="1" baseline="0">
                          <a:solidFill>
                            <a:schemeClr val="tx1"/>
                          </a:solidFill>
                          <a:latin typeface="Arial"/>
                        </a:rPr>
                        <a:t>Strengths</a:t>
                      </a:r>
                    </a:p>
                    <a:p>
                      <a:pPr lvl="0" algn="ctr">
                        <a:buNone/>
                      </a:pPr>
                      <a:r>
                        <a:rPr lang="en-US" sz="4800" b="1" baseline="0">
                          <a:solidFill>
                            <a:schemeClr val="tx1"/>
                          </a:solidFill>
                          <a:latin typeface="Arial"/>
                        </a:rPr>
                        <a:t>(S)</a:t>
                      </a:r>
                    </a:p>
                  </a:txBody>
                  <a:tcPr anchor="ctr">
                    <a:solidFill>
                      <a:srgbClr val="FFC000"/>
                    </a:solidFill>
                  </a:tcPr>
                </a:tc>
                <a:tc>
                  <a:txBody>
                    <a:bodyPr/>
                    <a:lstStyle/>
                    <a:p>
                      <a:pPr marL="0" lvl="0" indent="0" algn="ctr">
                        <a:buNone/>
                      </a:pPr>
                      <a:r>
                        <a:rPr lang="en-US" sz="4800" b="1">
                          <a:solidFill>
                            <a:schemeClr val="tx1"/>
                          </a:solidFill>
                          <a:latin typeface="Arial"/>
                        </a:rPr>
                        <a:t>Weaknesses</a:t>
                      </a:r>
                    </a:p>
                    <a:p>
                      <a:pPr marL="0" lvl="0" indent="0" algn="ctr">
                        <a:buNone/>
                      </a:pPr>
                      <a:r>
                        <a:rPr lang="en-US" sz="4800" b="1">
                          <a:solidFill>
                            <a:schemeClr val="tx1"/>
                          </a:solidFill>
                          <a:latin typeface="Arial"/>
                        </a:rPr>
                        <a:t>(W)</a:t>
                      </a:r>
                      <a:r>
                        <a:rPr lang="en-US" sz="4800" b="1">
                          <a:solidFill>
                            <a:schemeClr val="bg1"/>
                          </a:solidFill>
                          <a:latin typeface="Arial"/>
                        </a:rPr>
                        <a:t> </a:t>
                      </a:r>
                      <a:endParaRPr lang="en-US"/>
                    </a:p>
                  </a:txBody>
                  <a:tcPr anchor="ctr">
                    <a:solidFill>
                      <a:schemeClr val="accent5">
                        <a:lumMod val="60000"/>
                        <a:lumOff val="40000"/>
                      </a:schemeClr>
                    </a:solidFill>
                  </a:tcPr>
                </a:tc>
                <a:tc>
                  <a:txBody>
                    <a:bodyPr/>
                    <a:lstStyle/>
                    <a:p>
                      <a:pPr lvl="0" algn="ctr">
                        <a:buNone/>
                      </a:pPr>
                      <a:r>
                        <a:rPr lang="en-US" sz="4800" b="1">
                          <a:solidFill>
                            <a:schemeClr val="tx1"/>
                          </a:solidFill>
                          <a:latin typeface="Arial"/>
                        </a:rPr>
                        <a:t>Opportunities</a:t>
                      </a:r>
                    </a:p>
                    <a:p>
                      <a:pPr lvl="0" algn="ctr">
                        <a:buNone/>
                      </a:pPr>
                      <a:r>
                        <a:rPr lang="en-US" sz="4800" b="1">
                          <a:solidFill>
                            <a:schemeClr val="tx1"/>
                          </a:solidFill>
                          <a:latin typeface="Arial"/>
                        </a:rPr>
                        <a:t>(O)</a:t>
                      </a:r>
                      <a:endParaRPr lang="en-US">
                        <a:solidFill>
                          <a:schemeClr val="tx1"/>
                        </a:solidFill>
                      </a:endParaRPr>
                    </a:p>
                  </a:txBody>
                  <a:tcPr anchor="ctr">
                    <a:solidFill>
                      <a:schemeClr val="accent6">
                        <a:lumMod val="60000"/>
                        <a:lumOff val="40000"/>
                      </a:schemeClr>
                    </a:solidFill>
                  </a:tcPr>
                </a:tc>
                <a:tc>
                  <a:txBody>
                    <a:bodyPr/>
                    <a:lstStyle/>
                    <a:p>
                      <a:pPr lvl="0" algn="ctr">
                        <a:buNone/>
                      </a:pPr>
                      <a:r>
                        <a:rPr lang="en-US" sz="4800" b="1" baseline="0">
                          <a:solidFill>
                            <a:schemeClr val="tx1"/>
                          </a:solidFill>
                          <a:latin typeface="Arial"/>
                        </a:rPr>
                        <a:t>Threats</a:t>
                      </a:r>
                    </a:p>
                    <a:p>
                      <a:pPr lvl="0" algn="ctr">
                        <a:buNone/>
                      </a:pPr>
                      <a:r>
                        <a:rPr lang="en-US" sz="4800" b="1" baseline="0">
                          <a:solidFill>
                            <a:schemeClr val="tx1"/>
                          </a:solidFill>
                          <a:latin typeface="Arial"/>
                        </a:rPr>
                        <a:t>(T)</a:t>
                      </a:r>
                      <a:endParaRPr lang="en-US">
                        <a:solidFill>
                          <a:schemeClr val="tx1"/>
                        </a:solidFill>
                      </a:endParaRPr>
                    </a:p>
                  </a:txBody>
                  <a:tcPr anchor="ctr">
                    <a:solidFill>
                      <a:srgbClr val="FF0000"/>
                    </a:solidFill>
                  </a:tcPr>
                </a:tc>
                <a:extLst>
                  <a:ext uri="{0D108BD9-81ED-4DB2-BD59-A6C34878D82A}">
                    <a16:rowId xmlns:a16="http://schemas.microsoft.com/office/drawing/2014/main" val="2136606143"/>
                  </a:ext>
                </a:extLst>
              </a:tr>
              <a:tr h="3014859">
                <a:tc>
                  <a:txBody>
                    <a:bodyPr/>
                    <a:lstStyle/>
                    <a:p>
                      <a:pPr algn="ctr" fontAlgn="base">
                        <a:lnSpc>
                          <a:spcPts val="5250"/>
                        </a:lnSpc>
                        <a:buNone/>
                      </a:pPr>
                      <a:r>
                        <a:rPr lang="en-US" sz="3600" b="1" i="0" u="none" strike="noStrike" dirty="0">
                          <a:solidFill>
                            <a:srgbClr val="000000"/>
                          </a:solidFill>
                          <a:effectLst/>
                          <a:latin typeface="Arial"/>
                        </a:rPr>
                        <a:t>Problem idea 3</a:t>
                      </a:r>
                    </a:p>
                    <a:p>
                      <a:pPr marL="0" marR="0" lvl="0" indent="0" algn="ctr" defTabSz="1828800" rtl="0" eaLnBrk="1" fontAlgn="base" latinLnBrk="0" hangingPunct="1">
                        <a:lnSpc>
                          <a:spcPct val="100000"/>
                        </a:lnSpc>
                        <a:spcBef>
                          <a:spcPts val="0"/>
                        </a:spcBef>
                        <a:spcAft>
                          <a:spcPts val="0"/>
                        </a:spcAft>
                        <a:buClrTx/>
                        <a:buSzTx/>
                        <a:buFontTx/>
                        <a:buNone/>
                        <a:tabLst/>
                        <a:defRPr/>
                      </a:pPr>
                      <a:r>
                        <a:rPr lang="en-US" sz="3200" b="0" i="0" u="none" strike="noStrike" noProof="0" dirty="0">
                          <a:solidFill>
                            <a:srgbClr val="000000"/>
                          </a:solidFill>
                          <a:effectLst/>
                          <a:latin typeface="Arial"/>
                        </a:rPr>
                        <a:t>Makerspace Accessibility and Information Gap</a:t>
                      </a:r>
                      <a:endParaRPr lang="en-US" sz="3200" b="0" dirty="0"/>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Improves resource visibility and utilization, reducing confusion and inefficiencies</a:t>
                      </a:r>
                    </a:p>
                    <a:p>
                      <a:pPr marL="457200" indent="-457200">
                        <a:buFont typeface="Arial" panose="020B0604020202020204" pitchFamily="34" charset="0"/>
                        <a:buChar char="•"/>
                      </a:pPr>
                      <a:r>
                        <a:rPr lang="en-IN" sz="3200" dirty="0"/>
                        <a:t>Low-to-moderate tech implementation cost</a:t>
                      </a:r>
                    </a:p>
                    <a:p>
                      <a:pPr marL="457200" indent="-457200">
                        <a:buFont typeface="Arial" panose="020B0604020202020204" pitchFamily="34" charset="0"/>
                        <a:buChar char="•"/>
                      </a:pPr>
                      <a:r>
                        <a:rPr lang="en-IN" sz="3200" dirty="0"/>
                        <a:t>Encourages innovation and student engagement</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Needs regular data updates </a:t>
                      </a:r>
                    </a:p>
                    <a:p>
                      <a:pPr marL="457200" indent="-457200">
                        <a:buFont typeface="Arial" panose="020B0604020202020204" pitchFamily="34" charset="0"/>
                        <a:buChar char="•"/>
                      </a:pPr>
                      <a:r>
                        <a:rPr lang="en-IN" sz="3200" dirty="0"/>
                        <a:t>Requires staff training and digital management</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Booking system integration </a:t>
                      </a:r>
                    </a:p>
                    <a:p>
                      <a:pPr marL="457200" indent="-457200">
                        <a:buFont typeface="Arial" panose="020B0604020202020204" pitchFamily="34" charset="0"/>
                        <a:buChar char="•"/>
                      </a:pPr>
                      <a:r>
                        <a:rPr lang="en-IN" sz="3200" dirty="0"/>
                        <a:t>Tutorials, onboarding, and project showcases</a:t>
                      </a:r>
                    </a:p>
                    <a:p>
                      <a:pPr marL="457200" indent="-457200">
                        <a:buFont typeface="Arial" panose="020B0604020202020204" pitchFamily="34" charset="0"/>
                        <a:buChar char="•"/>
                      </a:pPr>
                      <a:r>
                        <a:rPr lang="en-IN" sz="3200" dirty="0"/>
                        <a:t>Collaboration hub for clubs/startups</a:t>
                      </a:r>
                    </a:p>
                    <a:p>
                      <a:pPr marL="457200" indent="-457200">
                        <a:buFont typeface="Arial" panose="020B0604020202020204" pitchFamily="34" charset="0"/>
                        <a:buChar char="•"/>
                      </a:pPr>
                      <a:r>
                        <a:rPr lang="en-IN" sz="3200" dirty="0"/>
                        <a:t>Analytics for funding justification</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tc>
                  <a:txBody>
                    <a:bodyPr/>
                    <a:lstStyle/>
                    <a:p>
                      <a:pPr marL="457200" indent="-457200">
                        <a:buFont typeface="Arial" panose="020B0604020202020204" pitchFamily="34" charset="0"/>
                        <a:buChar char="•"/>
                      </a:pPr>
                      <a:r>
                        <a:rPr lang="en-IN" sz="3200" dirty="0"/>
                        <a:t>Outdated data, resulting in loss of credibility</a:t>
                      </a:r>
                    </a:p>
                    <a:p>
                      <a:pPr marL="457200" indent="-457200">
                        <a:buFont typeface="Arial" panose="020B0604020202020204" pitchFamily="34" charset="0"/>
                        <a:buChar char="•"/>
                      </a:pPr>
                      <a:r>
                        <a:rPr lang="en-IN" sz="3200" dirty="0"/>
                        <a:t>Low awareness, resulting in underutilization persists</a:t>
                      </a:r>
                    </a:p>
                    <a:p>
                      <a:pPr marL="457200" indent="-457200">
                        <a:buFont typeface="Arial" panose="020B0604020202020204" pitchFamily="34" charset="0"/>
                        <a:buChar char="•"/>
                      </a:pPr>
                      <a:r>
                        <a:rPr lang="en-IN" sz="3200" dirty="0"/>
                        <a:t>Tech platform abandonment without ownership</a:t>
                      </a:r>
                    </a:p>
                  </a:txBody>
                  <a:tcPr marL="68580" marR="6858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4158352676"/>
                  </a:ext>
                </a:extLst>
              </a:tr>
            </a:tbl>
          </a:graphicData>
        </a:graphic>
      </p:graphicFrame>
    </p:spTree>
    <p:extLst>
      <p:ext uri="{BB962C8B-B14F-4D97-AF65-F5344CB8AC3E}">
        <p14:creationId xmlns:p14="http://schemas.microsoft.com/office/powerpoint/2010/main" val="3233218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96</TotalTime>
  <Words>1041</Words>
  <Application>Microsoft Macintosh PowerPoint</Application>
  <PresentationFormat>Custom</PresentationFormat>
  <Paragraphs>198</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Arial,Sans-Serif</vt:lpstr>
      <vt:lpstr>Calibri</vt:lpstr>
      <vt:lpstr>Helvetica Neue</vt:lpstr>
      <vt:lpstr>Office Theme</vt:lpstr>
      <vt:lpstr>Innovation Lab &amp; Grand Challenge (ILGC) Studio - 2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Dhiraj Deva</cp:lastModifiedBy>
  <cp:revision>5</cp:revision>
  <dcterms:modified xsi:type="dcterms:W3CDTF">2026-03-07T13:06:07Z</dcterms:modified>
</cp:coreProperties>
</file>